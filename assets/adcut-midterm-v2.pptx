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0983d6cd9f493a" /><Relationship Type="http://schemas.openxmlformats.org/officeDocument/2006/relationships/extended-properties" Target="/docProps/app.xml" Id="R3d71594064c7477d" /><Relationship Type="http://schemas.openxmlformats.org/officeDocument/2006/relationships/officeDocument" Target="/ppt/presentation.xml" Id="R813b84dfc39a45e3" /></Relationships>
</file>

<file path=ppt/presentation.xml><?xml version="1.0" encoding="utf-8"?>
<p:presentation xmlns:p="http://schemas.openxmlformats.org/presentationml/2006/main">
  <p:sldMasterIdLst>
    <p:sldMasterId xmlns:r="http://schemas.openxmlformats.org/officeDocument/2006/relationships" id="2147483648" r:id="Rd8fd7ded4dd14e37"/>
  </p:sldMasterIdLst>
  <p:notesMasterIdLst>
    <p:notesMasterId xmlns:r="http://schemas.openxmlformats.org/officeDocument/2006/relationships" r:id="R7502381612224bc3"/>
  </p:notesMasterIdLst>
  <p:sldIdLst>
    <p:sldId xmlns:r="http://schemas.openxmlformats.org/officeDocument/2006/relationships" id="256" r:id="R7845237b92fc4be0"/>
    <p:sldId xmlns:r="http://schemas.openxmlformats.org/officeDocument/2006/relationships" id="257" r:id="R4dcad003027f4a59"/>
    <p:sldId xmlns:r="http://schemas.openxmlformats.org/officeDocument/2006/relationships" id="258" r:id="R4e89481bdcb5447d"/>
    <p:sldId xmlns:r="http://schemas.openxmlformats.org/officeDocument/2006/relationships" id="259" r:id="R40c503e82d814edf"/>
    <p:sldId xmlns:r="http://schemas.openxmlformats.org/officeDocument/2006/relationships" id="260" r:id="R5112482b28f24267"/>
    <p:sldId xmlns:r="http://schemas.openxmlformats.org/officeDocument/2006/relationships" id="261" r:id="Rd0960448d822480c"/>
    <p:sldId xmlns:r="http://schemas.openxmlformats.org/officeDocument/2006/relationships" id="262" r:id="R545ccb72c10e4aae"/>
    <p:sldId xmlns:r="http://schemas.openxmlformats.org/officeDocument/2006/relationships" id="263" r:id="Ra1103361d1da4a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0ec08f453a405c" /><Relationship Type="http://schemas.openxmlformats.org/officeDocument/2006/relationships/slideMaster" Target="/ppt/slideMasters/slideMaster1.xml" Id="Rd8fd7ded4dd14e37" /><Relationship Type="http://schemas.openxmlformats.org/officeDocument/2006/relationships/notesMaster" Target="/ppt/notesMasters/notesMaster1.xml" Id="R7502381612224bc3" /><Relationship Type="http://schemas.openxmlformats.org/officeDocument/2006/relationships/presProps" Target="/ppt/presProps.xml" Id="R555655b24c8446a1" /><Relationship Type="http://schemas.openxmlformats.org/officeDocument/2006/relationships/tableStyles" Target="/ppt/tableStyles.xml" Id="Rd5382184e4294657" /><Relationship Type="http://schemas.openxmlformats.org/officeDocument/2006/relationships/slide" Target="/ppt/slides/slide1.xml" Id="R7845237b92fc4be0" /><Relationship Type="http://schemas.openxmlformats.org/officeDocument/2006/relationships/slide" Target="/ppt/slides/slide2.xml" Id="R4dcad003027f4a59" /><Relationship Type="http://schemas.openxmlformats.org/officeDocument/2006/relationships/slide" Target="/ppt/slides/slide3.xml" Id="R4e89481bdcb5447d" /><Relationship Type="http://schemas.openxmlformats.org/officeDocument/2006/relationships/slide" Target="/ppt/slides/slide4.xml" Id="R40c503e82d814edf" /><Relationship Type="http://schemas.openxmlformats.org/officeDocument/2006/relationships/slide" Target="/ppt/slides/slide5.xml" Id="R5112482b28f24267" /><Relationship Type="http://schemas.openxmlformats.org/officeDocument/2006/relationships/slide" Target="/ppt/slides/slide6.xml" Id="Rd0960448d822480c" /><Relationship Type="http://schemas.openxmlformats.org/officeDocument/2006/relationships/slide" Target="/ppt/slides/slide7.xml" Id="R545ccb72c10e4aae" /><Relationship Type="http://schemas.openxmlformats.org/officeDocument/2006/relationships/slide" Target="/ppt/slides/slide8.xml" Id="Ra1103361d1da4a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1afe27658e49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47d6def081409e" /><Relationship Type="http://schemas.openxmlformats.org/officeDocument/2006/relationships/notesMaster" Target="/ppt/notesMasters/notesMaster1.xml" Id="R9f8add34d8aa4f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1d7da52f614c31" /><Relationship Type="http://schemas.openxmlformats.org/officeDocument/2006/relationships/notesMaster" Target="/ppt/notesMasters/notesMaster1.xml" Id="Rd1a935918e6e4f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5c470811174dc2" /><Relationship Type="http://schemas.openxmlformats.org/officeDocument/2006/relationships/notesMaster" Target="/ppt/notesMasters/notesMaster1.xml" Id="R41c2c8346de144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6a30c2f8ef4984" /><Relationship Type="http://schemas.openxmlformats.org/officeDocument/2006/relationships/notesMaster" Target="/ppt/notesMasters/notesMaster1.xml" Id="R3d009d83f1204b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81e96a1f504010" /><Relationship Type="http://schemas.openxmlformats.org/officeDocument/2006/relationships/notesMaster" Target="/ppt/notesMasters/notesMaster1.xml" Id="R62cd297c880a48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c584b670d34c22" /><Relationship Type="http://schemas.openxmlformats.org/officeDocument/2006/relationships/notesMaster" Target="/ppt/notesMasters/notesMaster1.xml" Id="Rb7ccbeda074b4c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75db2312f34fb5" /><Relationship Type="http://schemas.openxmlformats.org/officeDocument/2006/relationships/notesMaster" Target="/ppt/notesMasters/notesMaster1.xml" Id="Rb83eac24bd864e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dab981f9d845d4" /><Relationship Type="http://schemas.openxmlformats.org/officeDocument/2006/relationships/notesMaster" Target="/ppt/notesMasters/notesMaster1.xml" Id="Rc84cb8851a7e4c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Team E: Jennifer Lee, Hamsini Tankala, Vibhas Nair, and Alex Tang. Our client contact is Nick Dokich from Adcut. Adcut creates custom flooring and turf designs, and the company needs a faster way to turn customer logo images into geometry that can be prepared for water jet cutting. Our project is Adcut Logo Vectorizer. We are designing a Windows application that separates the colored sections of a logo, traces their boundaries, and exports CAD geometry for Adcut's existing workflow. Today, we will explain the user workflow, interface, system metaphor, architecture, and development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users are Adcut owners and employees. A customer may send a JPEG, PNG, or another image that looks correct on screen but does not contain usable cutting geometry. The employee first uploads that artwork. The application then identifies each distinct color region. The client told us that different colors must remain separate regions even when they represent the same material, so we cannot merge regions simply because their material is identical. Next, the application traces closed boundaries and converts suitable shapes into smooth CAD geometry. The employee enters a physical output dimension and units because pixel size alone cannot determine fabrication size. The minimum successful workflow is simple: upload the image, process it, and download a DXF that works in Adcut's downstream CAD and cutting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similarity is not enough for this project. Nick described a problem with another vectorization tool: it can represent a curve with thousands of short straight segments. The result may look round on a monitor, but that geometry can reduce cutting quality and make the CAD file harder to edit. The comparison on this slide shows that difference. On the left, a circle consists of many small segments and control points. On the right, one native circle describes the same shape cleanly. Our design therefore treats native lines, circles, and arcs as a quality goal whenever the source supports them. DXF is our first export target. The client also prefers DWG and can use SVG as a fallback, but exact DXF conventions and native DWG feasibility still require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proposed interface for the initial workflow. The employee chooses an artwork file, enters the required output width, and selects millimeters or inches. The color-region setting allows the employee to guide the initial separation when automatic detection needs help. After the employee selects Convert, the application reports its current stage and prevents duplicate conversion requests. The optional preview compares the source artwork with traced boundaries and displays warnings when geometry needs review. Download DXF becomes available only after conversion and validation succeed. If the file is invalid or the geometry cannot be exported reliably, the interface keeps the employee's settings and explains what needs correction. Changing the source or scale invalidates the previous download so that an outdated file cannot be mistaken for the current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system metaphor is a digital stencil workshop. The customer's artwork is the pattern. Each distinct color region becomes a separate stencil piece. Tracing defines the edge of each piece, and curve fitting improves that edge for CAD use. The final DXF packages the pieces for downstream preparation. This metaphor gives the team a consistent vocabulary for the system. It also clarifies two important boundaries. First, the application prepares geometry but does not operate the water jet. Second, it cannot recreate detail that is missing from a blurry image. The stencil idea also helps us reason about adjacent regions, because neighboring pieces can share an edge without requiring two unintended cuts.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layer uses Streamlit and handles file selection, settings, progress, warnings, and downloads. Input adapters decode image formats with Pillow and will later rasterize PDF pages with pypdfium2. The processing layer uses OpenCV and NumPy to reduce colors, identify regions, and extract boundaries. A separate geometry stage will preserve holes and shared edges, fit lines, circles, and arcs, and apply the selected physical scale. Before export, validation checks for open paths, invalid coordinates, degenerate entities, and unintended duplicate boundaries. The export adapter uses ezdxf to write native DXF entities. Keeping processing and export logic separate from the interface allows us to test them without a browser. Our current foundation exports native circles and has seven automated tests. Image-to-DXF conversion, arc fitting, and shared-boundary processing remain implementation work. AutoCAD and IGEMS import are external acceptance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selected Python 3.11 with Streamlit for the initial Windows application. This keeps the interface and image-processing pipeline in one language while we solve the geometry problems. OpenCV and NumPy support segmentation and contour operations. Pillow handles raster image decoding, pypdfium2 is planned for PDF input, and ezdxf serializes the DXF output. We use VS Code and GitHub for development, with pytest, Ruff, pre-commit, and Windows continuous integration for automated checks. The application will run locally through a browser interface. The client allows cloud hosting, but local execution avoids sending customer artwork to an external service during the initial version. React or Vue could support richer editing later. Native DWG export remains a separate feasibility and licensing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midterm, we have completed the updated specifications, interface design, system metaphor, architecture, platform decision, and technical design baseline. The private development repository contains a native-circle DXF exporter, seven passing tests, and a passing Windows check. We are not presenting a finished converter, and we have not yet validated output in Adcut's machine workflow. The next technical work is image decoding, color segmentation, region topology, shared-boundary handling, and curve fitting. We also need permitted sample artwork and accepted CAD examples from Adcut. Those samples will let us confirm units, scale, layers, DXF version, supported entities, and error tolerances. Our final acceptance target is a DXF that Adcut can successfully use in its existing workflow. Thank you. We are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1b0a40f5d74f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e3158a57a24cd8" /><Relationship Type="http://schemas.openxmlformats.org/officeDocument/2006/relationships/slideLayout" Target="/ppt/slideLayouts/slideLayout1.xml" Id="R30af60334efc47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af60334efc47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b627123bee4a3d" /><Relationship Type="http://schemas.openxmlformats.org/officeDocument/2006/relationships/image" Target="/ppt/media/image.png" Id="R7a215667fe2b4bf4" /><Relationship Type="http://schemas.openxmlformats.org/officeDocument/2006/relationships/notesSlide" Target="/ppt/notesSlides/notesSlide1.xml" Id="Rb7f19480643e40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4dba421f534950" /><Relationship Type="http://schemas.openxmlformats.org/officeDocument/2006/relationships/image" Target="/ppt/media/image2.png" Id="Rdb0c5fbef88f4b76" /><Relationship Type="http://schemas.openxmlformats.org/officeDocument/2006/relationships/notesSlide" Target="/ppt/notesSlides/notesSlide2.xml" Id="R152444c42d894a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0bcd4b9abc4ecf" /><Relationship Type="http://schemas.openxmlformats.org/officeDocument/2006/relationships/image" Target="/ppt/media/image3.png" Id="R3181e0a2c095404f" /><Relationship Type="http://schemas.openxmlformats.org/officeDocument/2006/relationships/notesSlide" Target="/ppt/notesSlides/notesSlide3.xml" Id="Rd789ab1576ae44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0cf7e183cd48e5" /><Relationship Type="http://schemas.openxmlformats.org/officeDocument/2006/relationships/notesSlide" Target="/ppt/notesSlides/notesSlide4.xml" Id="R038632a799aa47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428a9a503a4116" /><Relationship Type="http://schemas.openxmlformats.org/officeDocument/2006/relationships/image" Target="/ppt/media/image4.png" Id="Re27d2f0e40314787" /><Relationship Type="http://schemas.openxmlformats.org/officeDocument/2006/relationships/notesSlide" Target="/ppt/notesSlides/notesSlide5.xml" Id="R466f1340d8ce4f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bdacc2cdd44a36" /><Relationship Type="http://schemas.openxmlformats.org/officeDocument/2006/relationships/notesSlide" Target="/ppt/notesSlides/notesSlide6.xml" Id="R5d1248629c8249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8c258c0b9042cc" /><Relationship Type="http://schemas.openxmlformats.org/officeDocument/2006/relationships/notesSlide" Target="/ppt/notesSlides/notesSlide7.xml" Id="R6193188a36ef45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1c762d20804601" /><Relationship Type="http://schemas.openxmlformats.org/officeDocument/2006/relationships/notesSlide" Target="/ppt/notesSlides/notesSlide8.xml" Id="R1de3fd2963754538" /></Relationships>
</file>

<file path=ppt/slides/slide1.xml><?xml version="1.0" encoding="utf-8"?>
<p:sld xmlns:p="http://schemas.openxmlformats.org/presentationml/2006/main">
  <p:cSld>
    <p:bg>
      <p:bgPr>
        <a:solidFill xmlns:a="http://schemas.openxmlformats.org/drawingml/2006/main">
          <a:srgbClr val="13294B"/>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215667fe2b4bf4"/>
          <a:srcRect xmlns:a="http://schemas.openxmlformats.org/drawingml/2006/main" l="20297" t="0" r="20297"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259BE8-8487-401E-9716-867D3C2D566A}"/>
              </a:ext>
            </a:extLst>
          </p:cNvPr>
          <p:cNvSpPr>
            <a:spLocks xmlns:a="http://schemas.openxmlformats.org/drawingml/2006/main" noGrp="1"/>
          </p:cNvSpPr>
          <p:nvPr/>
        </p:nvSpPr>
        <p:spPr>
          <a:xfrm xmlns:a="http://schemas.openxmlformats.org/drawingml/2006/main">
            <a:off x="0" y="0"/>
            <a:ext cx="5524500" cy="6858000"/>
          </a:xfrm>
          <a:prstGeom xmlns:a="http://schemas.openxmlformats.org/drawingml/2006/main" prst="rect">
            <a:avLst/>
          </a:prstGeom>
          <a:solidFill xmlns:a="http://schemas.openxmlformats.org/drawingml/2006/main">
            <a:srgbClr val="1329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BF0F85-3136-44FB-8DFA-24F5E1713834}"/>
              </a:ext>
            </a:extLst>
          </p:cNvPr>
          <p:cNvSpPr>
            <a:spLocks xmlns:a="http://schemas.openxmlformats.org/drawingml/2006/main" noGrp="1"/>
          </p:cNvSpPr>
          <p:nvPr/>
        </p:nvSpPr>
        <p:spPr>
          <a:xfrm xmlns:a="http://schemas.openxmlformats.org/drawingml/2006/main">
            <a:off x="609600" y="742950"/>
            <a:ext cx="4476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FFFFFF"/>
                </a:solidFill>
                <a:latin typeface="Arial"/>
                <a:ea typeface="Arial"/>
                <a:cs typeface="Arial"/>
              </a:defRPr>
            </a:pPr>
            <a:r>
              <a:rPr sz="4125" b="1">
                <a:solidFill>
                  <a:srgbClr val="FFFFFF"/>
                </a:solidFill>
                <a:latin typeface="Arial"/>
                <a:ea typeface="Arial"/>
                <a:cs typeface="Arial"/>
              </a:rPr>
              <a:t>Adcut Logo</a:t>
            </a:r>
          </a:p>
          <a:p xmlns:a="http://schemas.openxmlformats.org/drawingml/2006/main">
            <a:pPr algn="l">
              <a:defRPr sz="4125" b="1">
                <a:solidFill>
                  <a:srgbClr val="FFFFFF"/>
                </a:solidFill>
                <a:latin typeface="Arial"/>
                <a:ea typeface="Arial"/>
                <a:cs typeface="Arial"/>
              </a:defRPr>
            </a:pPr>
            <a:r>
              <a:rPr sz="4125" b="1">
                <a:solidFill>
                  <a:srgbClr val="FFFFFF"/>
                </a:solidFill>
                <a:latin typeface="Arial"/>
                <a:ea typeface="Arial"/>
                <a:cs typeface="Arial"/>
              </a:rPr>
              <a:t>Vectorizer</a:t>
            </a:r>
          </a:p>
        </p:txBody>
      </p:sp>
      <p:sp>
        <p:nvSpPr>
          <p:cNvPr id="4" name="">
            <a:extLst xmlns:a="http://schemas.openxmlformats.org/drawingml/2006/main">
              <a:ext uri="{FF2B5EF4-FFF2-40B4-BE49-F238E27FC236}">
                <a16:creationId xmlns:a16="http://schemas.microsoft.com/office/drawing/2014/main" id="{6F8E4FF5-E4B1-4F85-A228-F61FBCCF1687}"/>
              </a:ext>
            </a:extLst>
          </p:cNvPr>
          <p:cNvSpPr>
            <a:spLocks xmlns:a="http://schemas.openxmlformats.org/drawingml/2006/main" noGrp="1"/>
          </p:cNvSpPr>
          <p:nvPr/>
        </p:nvSpPr>
        <p:spPr>
          <a:xfrm xmlns:a="http://schemas.openxmlformats.org/drawingml/2006/main">
            <a:off x="638175" y="26289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4B9CD3"/>
                </a:solidFill>
                <a:latin typeface="Arial"/>
                <a:ea typeface="Arial"/>
                <a:cs typeface="Arial"/>
              </a:defRPr>
            </a:pPr>
            <a:r>
              <a:rPr sz="2025" b="1">
                <a:solidFill>
                  <a:srgbClr val="4B9CD3"/>
                </a:solidFill>
                <a:latin typeface="Arial"/>
                <a:ea typeface="Arial"/>
                <a:cs typeface="Arial"/>
              </a:rPr>
              <a:t>UNC COMP 523 / Team E</a:t>
            </a:r>
          </a:p>
        </p:txBody>
      </p:sp>
      <p:sp>
        <p:nvSpPr>
          <p:cNvPr id="5" name="">
            <a:extLst xmlns:a="http://schemas.openxmlformats.org/drawingml/2006/main">
              <a:ext uri="{FF2B5EF4-FFF2-40B4-BE49-F238E27FC236}">
                <a16:creationId xmlns:a16="http://schemas.microsoft.com/office/drawing/2014/main" id="{FAE50237-78A5-43DF-9318-CF2E854D1987}"/>
              </a:ext>
            </a:extLst>
          </p:cNvPr>
          <p:cNvSpPr>
            <a:spLocks xmlns:a="http://schemas.openxmlformats.org/drawingml/2006/main" noGrp="1"/>
          </p:cNvSpPr>
          <p:nvPr/>
        </p:nvSpPr>
        <p:spPr>
          <a:xfrm xmlns:a="http://schemas.openxmlformats.org/drawingml/2006/main">
            <a:off x="638175" y="3571875"/>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Jennifer Lee    Hamsini Tankala</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Vibhas Nair     Alex Tang</a:t>
            </a:r>
          </a:p>
        </p:txBody>
      </p:sp>
      <p:sp>
        <p:nvSpPr>
          <p:cNvPr id="6" name="">
            <a:extLst xmlns:a="http://schemas.openxmlformats.org/drawingml/2006/main">
              <a:ext uri="{FF2B5EF4-FFF2-40B4-BE49-F238E27FC236}">
                <a16:creationId xmlns:a16="http://schemas.microsoft.com/office/drawing/2014/main" id="{5F70E383-91AE-4614-91DB-75D4BBC4D27C}"/>
              </a:ext>
            </a:extLst>
          </p:cNvPr>
          <p:cNvSpPr>
            <a:spLocks xmlns:a="http://schemas.openxmlformats.org/drawingml/2006/main" noGrp="1"/>
          </p:cNvSpPr>
          <p:nvPr/>
        </p:nvSpPr>
        <p:spPr>
          <a:xfrm xmlns:a="http://schemas.openxmlformats.org/drawingml/2006/main">
            <a:off x="638175" y="5048250"/>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D8E2EE"/>
                </a:solidFill>
                <a:latin typeface="Arial"/>
                <a:ea typeface="Arial"/>
                <a:cs typeface="Arial"/>
              </a:defRPr>
            </a:pPr>
            <a:r>
              <a:rPr sz="1725" b="0">
                <a:solidFill>
                  <a:srgbClr val="D8E2EE"/>
                </a:solidFill>
                <a:latin typeface="Arial"/>
                <a:ea typeface="Arial"/>
                <a:cs typeface="Arial"/>
              </a:rPr>
              <a:t>Client contact</a:t>
            </a:r>
          </a:p>
          <a:p xmlns:a="http://schemas.openxmlformats.org/drawingml/2006/main">
            <a:pPr algn="l">
              <a:defRPr sz="1725" b="0">
                <a:solidFill>
                  <a:srgbClr val="D8E2EE"/>
                </a:solidFill>
                <a:latin typeface="Arial"/>
                <a:ea typeface="Arial"/>
                <a:cs typeface="Arial"/>
              </a:defRPr>
            </a:pPr>
            <a:r>
              <a:rPr sz="1725" b="0">
                <a:solidFill>
                  <a:srgbClr val="D8E2EE"/>
                </a:solidFill>
                <a:latin typeface="Arial"/>
                <a:ea typeface="Arial"/>
                <a:cs typeface="Arial"/>
              </a:rPr>
              <a:t>Nick Dokich / Adcut</a:t>
            </a:r>
          </a:p>
        </p:txBody>
      </p:sp>
      <p:sp>
        <p:nvSpPr>
          <p:cNvPr id="7" name="">
            <a:extLst xmlns:a="http://schemas.openxmlformats.org/drawingml/2006/main">
              <a:ext uri="{FF2B5EF4-FFF2-40B4-BE49-F238E27FC236}">
                <a16:creationId xmlns:a16="http://schemas.microsoft.com/office/drawing/2014/main" id="{84C6B33D-729B-478F-B475-0C549B74C9FB}"/>
              </a:ext>
            </a:extLst>
          </p:cNvPr>
          <p:cNvSpPr>
            <a:spLocks xmlns:a="http://schemas.openxmlformats.org/drawingml/2006/main" noGrp="1"/>
          </p:cNvSpPr>
          <p:nvPr/>
        </p:nvSpPr>
        <p:spPr>
          <a:xfrm xmlns:a="http://schemas.openxmlformats.org/drawingml/2006/main">
            <a:off x="83439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FFFFFF"/>
                </a:solidFill>
                <a:latin typeface="Arial"/>
                <a:ea typeface="Arial"/>
                <a:cs typeface="Arial"/>
              </a:defRPr>
            </a:pPr>
            <a:r>
              <a:rPr sz="975" b="0">
                <a:solidFill>
                  <a:srgbClr val="FFFFFF"/>
                </a:solidFill>
                <a:latin typeface="Arial"/>
                <a:ea typeface="Arial"/>
                <a:cs typeface="Arial"/>
              </a:rPr>
              <a:t>Representative generated image</a:t>
            </a:r>
          </a:p>
        </p:txBody>
      </p:sp>
    </p:spTree>
    <p:extLst>
      <p:ext uri="{BB962C8B-B14F-4D97-AF65-F5344CB8AC3E}">
        <p14:creationId xmlns:p14="http://schemas.microsoft.com/office/powerpoint/2010/main" val="123343926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15C58B-31FB-4E3F-A334-A4AEFAD47AD0}"/>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From customer artwork to CAD geometry</a:t>
            </a:r>
          </a:p>
        </p:txBody>
      </p:sp>
      <p:sp>
        <p:nvSpPr>
          <p:cNvPr id="2" name="">
            <a:extLst xmlns:a="http://schemas.openxmlformats.org/drawingml/2006/main">
              <a:ext uri="{FF2B5EF4-FFF2-40B4-BE49-F238E27FC236}">
                <a16:creationId xmlns:a16="http://schemas.microsoft.com/office/drawing/2014/main" id="{D8DD5679-0181-4314-BB56-0DBDA4844312}"/>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2   Adcut Logo Vectorizer / Team 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0c5fbef88f4b76"/>
          <a:stretch xmlns:a="http://schemas.openxmlformats.org/drawingml/2006/main"/>
        </p:blipFill>
        <p:spPr>
          <a:xfrm xmlns:a="http://schemas.openxmlformats.org/drawingml/2006/main">
            <a:off x="2440343" y="1219200"/>
            <a:ext cx="7311313" cy="4114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1A56D4-5710-4A18-8DEF-B843157F7634}"/>
              </a:ext>
            </a:extLst>
          </p:cNvPr>
          <p:cNvSpPr>
            <a:spLocks xmlns:a="http://schemas.openxmlformats.org/drawingml/2006/main" noGrp="1"/>
          </p:cNvSpPr>
          <p:nvPr/>
        </p:nvSpPr>
        <p:spPr>
          <a:xfrm xmlns:a="http://schemas.openxmlformats.org/drawingml/2006/main">
            <a:off x="838200" y="53721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3294B"/>
                </a:solidFill>
                <a:latin typeface="Arial"/>
                <a:ea typeface="Arial"/>
                <a:cs typeface="Arial"/>
              </a:defRPr>
            </a:pPr>
            <a:r>
              <a:rPr sz="1800" b="1">
                <a:solidFill>
                  <a:srgbClr val="13294B"/>
                </a:solidFill>
                <a:latin typeface="Arial"/>
                <a:ea typeface="Arial"/>
                <a:cs typeface="Arial"/>
              </a:rPr>
              <a:t>Customer image</a:t>
            </a:r>
          </a:p>
        </p:txBody>
      </p:sp>
      <p:sp>
        <p:nvSpPr>
          <p:cNvPr id="5" name="">
            <a:extLst xmlns:a="http://schemas.openxmlformats.org/drawingml/2006/main">
              <a:ext uri="{FF2B5EF4-FFF2-40B4-BE49-F238E27FC236}">
                <a16:creationId xmlns:a16="http://schemas.microsoft.com/office/drawing/2014/main" id="{968A41DE-896C-416F-ACAF-04C5A8B93BC7}"/>
              </a:ext>
            </a:extLst>
          </p:cNvPr>
          <p:cNvSpPr>
            <a:spLocks xmlns:a="http://schemas.openxmlformats.org/drawingml/2006/main" noGrp="1"/>
          </p:cNvSpPr>
          <p:nvPr/>
        </p:nvSpPr>
        <p:spPr>
          <a:xfrm xmlns:a="http://schemas.openxmlformats.org/drawingml/2006/main">
            <a:off x="4657725" y="53721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3294B"/>
                </a:solidFill>
                <a:latin typeface="Arial"/>
                <a:ea typeface="Arial"/>
                <a:cs typeface="Arial"/>
              </a:defRPr>
            </a:pPr>
            <a:r>
              <a:rPr sz="1800" b="1">
                <a:solidFill>
                  <a:srgbClr val="13294B"/>
                </a:solidFill>
                <a:latin typeface="Arial"/>
                <a:ea typeface="Arial"/>
                <a:cs typeface="Arial"/>
              </a:rPr>
              <a:t>Distinct color regions</a:t>
            </a:r>
          </a:p>
        </p:txBody>
      </p:sp>
      <p:sp>
        <p:nvSpPr>
          <p:cNvPr id="6" name="">
            <a:extLst xmlns:a="http://schemas.openxmlformats.org/drawingml/2006/main">
              <a:ext uri="{FF2B5EF4-FFF2-40B4-BE49-F238E27FC236}">
                <a16:creationId xmlns:a16="http://schemas.microsoft.com/office/drawing/2014/main" id="{FEA44D3A-BC07-44E9-BD88-61D499E255C8}"/>
              </a:ext>
            </a:extLst>
          </p:cNvPr>
          <p:cNvSpPr>
            <a:spLocks xmlns:a="http://schemas.openxmlformats.org/drawingml/2006/main" noGrp="1"/>
          </p:cNvSpPr>
          <p:nvPr/>
        </p:nvSpPr>
        <p:spPr>
          <a:xfrm xmlns:a="http://schemas.openxmlformats.org/drawingml/2006/main">
            <a:off x="8572500" y="53721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3294B"/>
                </a:solidFill>
                <a:latin typeface="Arial"/>
                <a:ea typeface="Arial"/>
                <a:cs typeface="Arial"/>
              </a:defRPr>
            </a:pPr>
            <a:r>
              <a:rPr sz="1800" b="1">
                <a:solidFill>
                  <a:srgbClr val="13294B"/>
                </a:solidFill>
                <a:latin typeface="Arial"/>
                <a:ea typeface="Arial"/>
                <a:cs typeface="Arial"/>
              </a:rPr>
              <a:t>Closed CAD curves</a:t>
            </a:r>
          </a:p>
        </p:txBody>
      </p:sp>
      <p:sp>
        <p:nvSpPr>
          <p:cNvPr id="7" name="">
            <a:extLst xmlns:a="http://schemas.openxmlformats.org/drawingml/2006/main">
              <a:ext uri="{FF2B5EF4-FFF2-40B4-BE49-F238E27FC236}">
                <a16:creationId xmlns:a16="http://schemas.microsoft.com/office/drawing/2014/main" id="{2579C121-888A-4C8F-84DB-251709318CE1}"/>
              </a:ext>
            </a:extLst>
          </p:cNvPr>
          <p:cNvSpPr>
            <a:spLocks xmlns:a="http://schemas.openxmlformats.org/drawingml/2006/main" noGrp="1"/>
          </p:cNvSpPr>
          <p:nvPr/>
        </p:nvSpPr>
        <p:spPr>
          <a:xfrm xmlns:a="http://schemas.openxmlformats.org/drawingml/2006/main">
            <a:off x="1143000" y="5895975"/>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0">
                <a:solidFill>
                  <a:srgbClr val="53647A"/>
                </a:solidFill>
                <a:latin typeface="Arial"/>
                <a:ea typeface="Arial"/>
                <a:cs typeface="Arial"/>
              </a:defRPr>
            </a:pPr>
            <a:r>
              <a:rPr sz="1650" b="0">
                <a:solidFill>
                  <a:srgbClr val="53647A"/>
                </a:solidFill>
                <a:latin typeface="Arial"/>
                <a:ea typeface="Arial"/>
                <a:cs typeface="Arial"/>
              </a:rPr>
              <a:t>The employee supplies physical size and units before export.</a:t>
            </a:r>
          </a:p>
        </p:txBody>
      </p:sp>
    </p:spTree>
    <p:extLst>
      <p:ext uri="{BB962C8B-B14F-4D97-AF65-F5344CB8AC3E}">
        <p14:creationId xmlns:p14="http://schemas.microsoft.com/office/powerpoint/2010/main" val="725623899"/>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9D2DD2-6B60-4536-8844-971A2536425A}"/>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Cutting quality depends on geometry</a:t>
            </a:r>
          </a:p>
        </p:txBody>
      </p:sp>
      <p:sp>
        <p:nvSpPr>
          <p:cNvPr id="2" name="">
            <a:extLst xmlns:a="http://schemas.openxmlformats.org/drawingml/2006/main">
              <a:ext uri="{FF2B5EF4-FFF2-40B4-BE49-F238E27FC236}">
                <a16:creationId xmlns:a16="http://schemas.microsoft.com/office/drawing/2014/main" id="{43E9F302-06B5-45BD-B873-0BA699BFCDE4}"/>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3   Adcut Logo Vectorizer / Team 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181e0a2c095404f"/>
          <a:stretch xmlns:a="http://schemas.openxmlformats.org/drawingml/2006/main"/>
        </p:blipFill>
        <p:spPr>
          <a:xfrm xmlns:a="http://schemas.openxmlformats.org/drawingml/2006/main">
            <a:off x="2457268" y="1200150"/>
            <a:ext cx="7277464" cy="409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82FD419-3BE9-4370-8DA6-598CB2B1C975}"/>
              </a:ext>
            </a:extLst>
          </p:cNvPr>
          <p:cNvSpPr>
            <a:spLocks xmlns:a="http://schemas.openxmlformats.org/drawingml/2006/main" noGrp="1"/>
          </p:cNvSpPr>
          <p:nvPr/>
        </p:nvSpPr>
        <p:spPr>
          <a:xfrm xmlns:a="http://schemas.openxmlformats.org/drawingml/2006/main">
            <a:off x="1000125" y="5238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1">
                <a:solidFill>
                  <a:srgbClr val="C23B3B"/>
                </a:solidFill>
                <a:latin typeface="Arial"/>
                <a:ea typeface="Arial"/>
                <a:cs typeface="Arial"/>
              </a:defRPr>
            </a:pPr>
            <a:r>
              <a:rPr sz="1875" b="1">
                <a:solidFill>
                  <a:srgbClr val="C23B3B"/>
                </a:solidFill>
                <a:latin typeface="Arial"/>
                <a:ea typeface="Arial"/>
                <a:cs typeface="Arial"/>
              </a:rPr>
              <a:t>Many short segments</a:t>
            </a:r>
          </a:p>
        </p:txBody>
      </p:sp>
      <p:sp>
        <p:nvSpPr>
          <p:cNvPr id="5" name="">
            <a:extLst xmlns:a="http://schemas.openxmlformats.org/drawingml/2006/main">
              <a:ext uri="{FF2B5EF4-FFF2-40B4-BE49-F238E27FC236}">
                <a16:creationId xmlns:a16="http://schemas.microsoft.com/office/drawing/2014/main" id="{F58E5C07-8F52-46FB-8007-B8F456704403}"/>
              </a:ext>
            </a:extLst>
          </p:cNvPr>
          <p:cNvSpPr>
            <a:spLocks xmlns:a="http://schemas.openxmlformats.org/drawingml/2006/main" noGrp="1"/>
          </p:cNvSpPr>
          <p:nvPr/>
        </p:nvSpPr>
        <p:spPr>
          <a:xfrm xmlns:a="http://schemas.openxmlformats.org/drawingml/2006/main">
            <a:off x="7096125" y="5238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1">
                <a:solidFill>
                  <a:srgbClr val="3C8A3C"/>
                </a:solidFill>
                <a:latin typeface="Arial"/>
                <a:ea typeface="Arial"/>
                <a:cs typeface="Arial"/>
              </a:defRPr>
            </a:pPr>
            <a:r>
              <a:rPr sz="1875" b="1">
                <a:solidFill>
                  <a:srgbClr val="3C8A3C"/>
                </a:solidFill>
                <a:latin typeface="Arial"/>
                <a:ea typeface="Arial"/>
                <a:cs typeface="Arial"/>
              </a:rPr>
              <a:t>One native curve</a:t>
            </a:r>
          </a:p>
        </p:txBody>
      </p:sp>
      <p:sp>
        <p:nvSpPr>
          <p:cNvPr id="6" name="">
            <a:extLst xmlns:a="http://schemas.openxmlformats.org/drawingml/2006/main">
              <a:ext uri="{FF2B5EF4-FFF2-40B4-BE49-F238E27FC236}">
                <a16:creationId xmlns:a16="http://schemas.microsoft.com/office/drawing/2014/main" id="{0C71ECDB-E038-4086-A88F-F534ECC2861B}"/>
              </a:ext>
            </a:extLst>
          </p:cNvPr>
          <p:cNvSpPr>
            <a:spLocks xmlns:a="http://schemas.openxmlformats.org/drawingml/2006/main" noGrp="1"/>
          </p:cNvSpPr>
          <p:nvPr/>
        </p:nvSpPr>
        <p:spPr>
          <a:xfrm xmlns:a="http://schemas.openxmlformats.org/drawingml/2006/main">
            <a:off x="1143000" y="58102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0">
                <a:solidFill>
                  <a:srgbClr val="53647A"/>
                </a:solidFill>
                <a:latin typeface="Arial"/>
                <a:ea typeface="Arial"/>
                <a:cs typeface="Arial"/>
              </a:defRPr>
            </a:pPr>
            <a:r>
              <a:rPr sz="1575" b="0">
                <a:solidFill>
                  <a:srgbClr val="53647A"/>
                </a:solidFill>
                <a:latin typeface="Arial"/>
                <a:ea typeface="Arial"/>
                <a:cs typeface="Arial"/>
              </a:rPr>
              <a:t>DXF first. DWG feasibility and exact export conventions still require validation.</a:t>
            </a:r>
          </a:p>
        </p:txBody>
      </p:sp>
    </p:spTree>
    <p:extLst>
      <p:ext uri="{BB962C8B-B14F-4D97-AF65-F5344CB8AC3E}">
        <p14:creationId xmlns:p14="http://schemas.microsoft.com/office/powerpoint/2010/main" val="49793023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38BD716-B4E6-4041-BE5E-2C6170D942BA}"/>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Proposed employee interface</a:t>
            </a:r>
          </a:p>
        </p:txBody>
      </p:sp>
      <p:sp>
        <p:nvSpPr>
          <p:cNvPr id="2" name="">
            <a:extLst xmlns:a="http://schemas.openxmlformats.org/drawingml/2006/main">
              <a:ext uri="{FF2B5EF4-FFF2-40B4-BE49-F238E27FC236}">
                <a16:creationId xmlns:a16="http://schemas.microsoft.com/office/drawing/2014/main" id="{7D5EF5EF-3B5D-4324-B753-E38F0AF0CA8D}"/>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4   Adcut Logo Vectorizer / Team E</a:t>
            </a:r>
          </a:p>
        </p:txBody>
      </p:sp>
      <p:sp>
        <p:nvSpPr>
          <p:cNvPr id="3" name="">
            <a:extLst xmlns:a="http://schemas.openxmlformats.org/drawingml/2006/main">
              <a:ext uri="{FF2B5EF4-FFF2-40B4-BE49-F238E27FC236}">
                <a16:creationId xmlns:a16="http://schemas.microsoft.com/office/drawing/2014/main" id="{30B2BB43-4098-427A-9A24-9034C95E2AA2}"/>
              </a:ext>
            </a:extLst>
          </p:cNvPr>
          <p:cNvSpPr>
            <a:spLocks xmlns:a="http://schemas.openxmlformats.org/drawingml/2006/main" noGrp="1"/>
          </p:cNvSpPr>
          <p:nvPr/>
        </p:nvSpPr>
        <p:spPr>
          <a:xfrm xmlns:a="http://schemas.openxmlformats.org/drawingml/2006/main">
            <a:off x="609600" y="1219200"/>
            <a:ext cx="10972800" cy="4552950"/>
          </a:xfrm>
          <a:prstGeom xmlns:a="http://schemas.openxmlformats.org/drawingml/2006/main" prst="roundRect">
            <a:avLst>
              <a:gd name="adj" fmla="val 1674"/>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ABBDB4-2E6D-4F4C-B728-74FD4B46221F}"/>
              </a:ext>
            </a:extLst>
          </p:cNvPr>
          <p:cNvSpPr>
            <a:spLocks xmlns:a="http://schemas.openxmlformats.org/drawingml/2006/main" noGrp="1"/>
          </p:cNvSpPr>
          <p:nvPr/>
        </p:nvSpPr>
        <p:spPr>
          <a:xfrm xmlns:a="http://schemas.openxmlformats.org/drawingml/2006/main">
            <a:off x="609600" y="1219200"/>
            <a:ext cx="10972800" cy="533400"/>
          </a:xfrm>
          <a:prstGeom xmlns:a="http://schemas.openxmlformats.org/drawingml/2006/main" prst="rect">
            <a:avLst/>
          </a:prstGeom>
          <a:solidFill xmlns:a="http://schemas.openxmlformats.org/drawingml/2006/main">
            <a:srgbClr val="13294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A87F28-5A33-4C59-9E8A-FE54C36C8062}"/>
              </a:ext>
            </a:extLst>
          </p:cNvPr>
          <p:cNvSpPr>
            <a:spLocks xmlns:a="http://schemas.openxmlformats.org/drawingml/2006/main" noGrp="1"/>
          </p:cNvSpPr>
          <p:nvPr/>
        </p:nvSpPr>
        <p:spPr>
          <a:xfrm xmlns:a="http://schemas.openxmlformats.org/drawingml/2006/main">
            <a:off x="800100" y="13239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Adcut Logo Vectorizer</a:t>
            </a:r>
          </a:p>
        </p:txBody>
      </p:sp>
      <p:sp>
        <p:nvSpPr>
          <p:cNvPr id="6" name="">
            <a:extLst xmlns:a="http://schemas.openxmlformats.org/drawingml/2006/main">
              <a:ext uri="{FF2B5EF4-FFF2-40B4-BE49-F238E27FC236}">
                <a16:creationId xmlns:a16="http://schemas.microsoft.com/office/drawing/2014/main" id="{937E26DD-7607-4B86-BB62-4A0535CFA2B5}"/>
              </a:ext>
            </a:extLst>
          </p:cNvPr>
          <p:cNvSpPr>
            <a:spLocks xmlns:a="http://schemas.openxmlformats.org/drawingml/2006/main" noGrp="1"/>
          </p:cNvSpPr>
          <p:nvPr/>
        </p:nvSpPr>
        <p:spPr>
          <a:xfrm xmlns:a="http://schemas.openxmlformats.org/drawingml/2006/main">
            <a:off x="838200" y="20383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3294B"/>
                </a:solidFill>
                <a:latin typeface="Arial"/>
                <a:ea typeface="Arial"/>
                <a:cs typeface="Arial"/>
              </a:defRPr>
            </a:pPr>
            <a:r>
              <a:rPr sz="1875" b="1">
                <a:solidFill>
                  <a:srgbClr val="13294B"/>
                </a:solidFill>
                <a:latin typeface="Arial"/>
                <a:ea typeface="Arial"/>
                <a:cs typeface="Arial"/>
              </a:rPr>
              <a:t>1  Artwork and scale</a:t>
            </a:r>
          </a:p>
        </p:txBody>
      </p:sp>
      <p:sp>
        <p:nvSpPr>
          <p:cNvPr id="7" name="">
            <a:extLst xmlns:a="http://schemas.openxmlformats.org/drawingml/2006/main">
              <a:ext uri="{FF2B5EF4-FFF2-40B4-BE49-F238E27FC236}">
                <a16:creationId xmlns:a16="http://schemas.microsoft.com/office/drawing/2014/main" id="{D1B21DB0-5E89-4F28-B42F-32A39DC238A7}"/>
              </a:ext>
            </a:extLst>
          </p:cNvPr>
          <p:cNvSpPr>
            <a:spLocks xmlns:a="http://schemas.openxmlformats.org/drawingml/2006/main" noGrp="1"/>
          </p:cNvSpPr>
          <p:nvPr/>
        </p:nvSpPr>
        <p:spPr>
          <a:xfrm xmlns:a="http://schemas.openxmlformats.org/drawingml/2006/main">
            <a:off x="838200" y="2543175"/>
            <a:ext cx="3219450" cy="552450"/>
          </a:xfrm>
          <a:prstGeom xmlns:a="http://schemas.openxmlformats.org/drawingml/2006/main" prst="roundRect">
            <a:avLst>
              <a:gd name="adj" fmla="val 10345"/>
            </a:avLst>
          </a:prstGeom>
          <a:solidFill xmlns:a="http://schemas.openxmlformats.org/drawingml/2006/main">
            <a:srgbClr val="E8F0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C541DF-37B1-4D03-B503-FC2E5B1F9E8E}"/>
              </a:ext>
            </a:extLst>
          </p:cNvPr>
          <p:cNvSpPr>
            <a:spLocks xmlns:a="http://schemas.openxmlformats.org/drawingml/2006/main" noGrp="1"/>
          </p:cNvSpPr>
          <p:nvPr/>
        </p:nvSpPr>
        <p:spPr>
          <a:xfrm xmlns:a="http://schemas.openxmlformats.org/drawingml/2006/main">
            <a:off x="1047750" y="26765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3294B"/>
                </a:solidFill>
                <a:latin typeface="Arial"/>
                <a:ea typeface="Arial"/>
                <a:cs typeface="Arial"/>
              </a:defRPr>
            </a:pPr>
            <a:r>
              <a:rPr sz="1725" b="1">
                <a:solidFill>
                  <a:srgbClr val="13294B"/>
                </a:solidFill>
                <a:latin typeface="Arial"/>
                <a:ea typeface="Arial"/>
                <a:cs typeface="Arial"/>
              </a:rPr>
              <a:t>Choose image</a:t>
            </a:r>
          </a:p>
        </p:txBody>
      </p:sp>
      <p:sp>
        <p:nvSpPr>
          <p:cNvPr id="9" name="">
            <a:extLst xmlns:a="http://schemas.openxmlformats.org/drawingml/2006/main">
              <a:ext uri="{FF2B5EF4-FFF2-40B4-BE49-F238E27FC236}">
                <a16:creationId xmlns:a16="http://schemas.microsoft.com/office/drawing/2014/main" id="{414919AF-7C78-46C6-942C-181195B31217}"/>
              </a:ext>
            </a:extLst>
          </p:cNvPr>
          <p:cNvSpPr>
            <a:spLocks xmlns:a="http://schemas.openxmlformats.org/drawingml/2006/main" noGrp="1"/>
          </p:cNvSpPr>
          <p:nvPr/>
        </p:nvSpPr>
        <p:spPr>
          <a:xfrm xmlns:a="http://schemas.openxmlformats.org/drawingml/2006/main">
            <a:off x="838200" y="33623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72033"/>
                </a:solidFill>
                <a:latin typeface="Arial"/>
                <a:ea typeface="Arial"/>
                <a:cs typeface="Arial"/>
              </a:defRPr>
            </a:pPr>
            <a:r>
              <a:rPr sz="1575" b="1">
                <a:solidFill>
                  <a:srgbClr val="172033"/>
                </a:solidFill>
                <a:latin typeface="Arial"/>
                <a:ea typeface="Arial"/>
                <a:cs typeface="Arial"/>
              </a:rPr>
              <a:t>Output width</a:t>
            </a:r>
          </a:p>
        </p:txBody>
      </p:sp>
      <p:sp>
        <p:nvSpPr>
          <p:cNvPr id="10" name="">
            <a:extLst xmlns:a="http://schemas.openxmlformats.org/drawingml/2006/main">
              <a:ext uri="{FF2B5EF4-FFF2-40B4-BE49-F238E27FC236}">
                <a16:creationId xmlns:a16="http://schemas.microsoft.com/office/drawing/2014/main" id="{A61E95FE-C636-4BB0-9FE3-BFF0E8CED18A}"/>
              </a:ext>
            </a:extLst>
          </p:cNvPr>
          <p:cNvSpPr>
            <a:spLocks xmlns:a="http://schemas.openxmlformats.org/drawingml/2006/main" noGrp="1"/>
          </p:cNvSpPr>
          <p:nvPr/>
        </p:nvSpPr>
        <p:spPr>
          <a:xfrm xmlns:a="http://schemas.openxmlformats.org/drawingml/2006/main">
            <a:off x="838200" y="3733800"/>
            <a:ext cx="2000250" cy="4762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3FD8C7-31CB-4A97-A01E-D1140BF26364}"/>
              </a:ext>
            </a:extLst>
          </p:cNvPr>
          <p:cNvSpPr>
            <a:spLocks xmlns:a="http://schemas.openxmlformats.org/drawingml/2006/main" noGrp="1"/>
          </p:cNvSpPr>
          <p:nvPr/>
        </p:nvSpPr>
        <p:spPr>
          <a:xfrm xmlns:a="http://schemas.openxmlformats.org/drawingml/2006/main">
            <a:off x="1028700" y="3829050"/>
            <a:ext cx="157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10</a:t>
            </a:r>
          </a:p>
        </p:txBody>
      </p:sp>
      <p:sp>
        <p:nvSpPr>
          <p:cNvPr id="12" name="">
            <a:extLst xmlns:a="http://schemas.openxmlformats.org/drawingml/2006/main">
              <a:ext uri="{FF2B5EF4-FFF2-40B4-BE49-F238E27FC236}">
                <a16:creationId xmlns:a16="http://schemas.microsoft.com/office/drawing/2014/main" id="{66F705F1-3763-4075-B8CE-9D9311D9C728}"/>
              </a:ext>
            </a:extLst>
          </p:cNvPr>
          <p:cNvSpPr>
            <a:spLocks xmlns:a="http://schemas.openxmlformats.org/drawingml/2006/main" noGrp="1"/>
          </p:cNvSpPr>
          <p:nvPr/>
        </p:nvSpPr>
        <p:spPr>
          <a:xfrm xmlns:a="http://schemas.openxmlformats.org/drawingml/2006/main">
            <a:off x="2952750" y="3733800"/>
            <a:ext cx="1104900" cy="476250"/>
          </a:xfrm>
          <a:prstGeom xmlns:a="http://schemas.openxmlformats.org/drawingml/2006/main" prst="roundRect">
            <a:avLst>
              <a:gd name="adj" fmla="val 8000"/>
            </a:avLst>
          </a:prstGeom>
          <a:solidFill xmlns:a="http://schemas.openxmlformats.org/drawingml/2006/main">
            <a:srgbClr val="D8ECF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ADD4FCC-2BB9-4B80-9B17-0C4713CFC886}"/>
              </a:ext>
            </a:extLst>
          </p:cNvPr>
          <p:cNvSpPr>
            <a:spLocks xmlns:a="http://schemas.openxmlformats.org/drawingml/2006/main" noGrp="1"/>
          </p:cNvSpPr>
          <p:nvPr/>
        </p:nvSpPr>
        <p:spPr>
          <a:xfrm xmlns:a="http://schemas.openxmlformats.org/drawingml/2006/main">
            <a:off x="3171825" y="38290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3294B"/>
                </a:solidFill>
                <a:latin typeface="Arial"/>
                <a:ea typeface="Arial"/>
                <a:cs typeface="Arial"/>
              </a:defRPr>
            </a:pPr>
            <a:r>
              <a:rPr sz="1650" b="1">
                <a:solidFill>
                  <a:srgbClr val="13294B"/>
                </a:solidFill>
                <a:latin typeface="Arial"/>
                <a:ea typeface="Arial"/>
                <a:cs typeface="Arial"/>
              </a:rPr>
              <a:t>feet</a:t>
            </a:r>
          </a:p>
        </p:txBody>
      </p:sp>
      <p:sp>
        <p:nvSpPr>
          <p:cNvPr id="14" name="">
            <a:extLst xmlns:a="http://schemas.openxmlformats.org/drawingml/2006/main">
              <a:ext uri="{FF2B5EF4-FFF2-40B4-BE49-F238E27FC236}">
                <a16:creationId xmlns:a16="http://schemas.microsoft.com/office/drawing/2014/main" id="{9F8BF11A-325E-4825-8A1C-6D7EDE8E5FB1}"/>
              </a:ext>
            </a:extLst>
          </p:cNvPr>
          <p:cNvSpPr>
            <a:spLocks xmlns:a="http://schemas.openxmlformats.org/drawingml/2006/main" noGrp="1"/>
          </p:cNvSpPr>
          <p:nvPr/>
        </p:nvSpPr>
        <p:spPr>
          <a:xfrm xmlns:a="http://schemas.openxmlformats.org/drawingml/2006/main">
            <a:off x="838200" y="4505325"/>
            <a:ext cx="321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Color regions: automatic</a:t>
            </a:r>
          </a:p>
        </p:txBody>
      </p:sp>
      <p:sp>
        <p:nvSpPr>
          <p:cNvPr id="15" name="">
            <a:extLst xmlns:a="http://schemas.openxmlformats.org/drawingml/2006/main">
              <a:ext uri="{FF2B5EF4-FFF2-40B4-BE49-F238E27FC236}">
                <a16:creationId xmlns:a16="http://schemas.microsoft.com/office/drawing/2014/main" id="{DFC41FBC-B178-4305-BB63-47698C775F5D}"/>
              </a:ext>
            </a:extLst>
          </p:cNvPr>
          <p:cNvSpPr>
            <a:spLocks xmlns:a="http://schemas.openxmlformats.org/drawingml/2006/main" noGrp="1"/>
          </p:cNvSpPr>
          <p:nvPr/>
        </p:nvSpPr>
        <p:spPr>
          <a:xfrm xmlns:a="http://schemas.openxmlformats.org/drawingml/2006/main">
            <a:off x="838200" y="5048250"/>
            <a:ext cx="3219450" cy="514350"/>
          </a:xfrm>
          <a:prstGeom xmlns:a="http://schemas.openxmlformats.org/drawingml/2006/main" prst="roundRect">
            <a:avLst>
              <a:gd name="adj" fmla="val 11111"/>
            </a:avLst>
          </a:prstGeom>
          <a:solidFill xmlns:a="http://schemas.openxmlformats.org/drawingml/2006/main">
            <a:srgbClr val="4B9C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3656454-89ED-4141-A5CE-4C6FE51A2758}"/>
              </a:ext>
            </a:extLst>
          </p:cNvPr>
          <p:cNvSpPr>
            <a:spLocks xmlns:a="http://schemas.openxmlformats.org/drawingml/2006/main" noGrp="1"/>
          </p:cNvSpPr>
          <p:nvPr/>
        </p:nvSpPr>
        <p:spPr>
          <a:xfrm xmlns:a="http://schemas.openxmlformats.org/drawingml/2006/main">
            <a:off x="1143000" y="5153025"/>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Convert</a:t>
            </a:r>
          </a:p>
        </p:txBody>
      </p:sp>
      <p:sp>
        <p:nvSpPr>
          <p:cNvPr id="17" name="">
            <a:extLst xmlns:a="http://schemas.openxmlformats.org/drawingml/2006/main">
              <a:ext uri="{FF2B5EF4-FFF2-40B4-BE49-F238E27FC236}">
                <a16:creationId xmlns:a16="http://schemas.microsoft.com/office/drawing/2014/main" id="{ABB54777-6F29-4C9D-A458-771A18196490}"/>
              </a:ext>
            </a:extLst>
          </p:cNvPr>
          <p:cNvSpPr>
            <a:spLocks xmlns:a="http://schemas.openxmlformats.org/drawingml/2006/main" noGrp="1"/>
          </p:cNvSpPr>
          <p:nvPr/>
        </p:nvSpPr>
        <p:spPr>
          <a:xfrm xmlns:a="http://schemas.openxmlformats.org/drawingml/2006/main">
            <a:off x="4591050" y="20383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3294B"/>
                </a:solidFill>
                <a:latin typeface="Arial"/>
                <a:ea typeface="Arial"/>
                <a:cs typeface="Arial"/>
              </a:defRPr>
            </a:pPr>
            <a:r>
              <a:rPr sz="1875" b="1">
                <a:solidFill>
                  <a:srgbClr val="13294B"/>
                </a:solidFill>
                <a:latin typeface="Arial"/>
                <a:ea typeface="Arial"/>
                <a:cs typeface="Arial"/>
              </a:rPr>
              <a:t>2  Preview and validation</a:t>
            </a:r>
          </a:p>
        </p:txBody>
      </p:sp>
      <p:sp>
        <p:nvSpPr>
          <p:cNvPr id="18" name="">
            <a:extLst xmlns:a="http://schemas.openxmlformats.org/drawingml/2006/main">
              <a:ext uri="{FF2B5EF4-FFF2-40B4-BE49-F238E27FC236}">
                <a16:creationId xmlns:a16="http://schemas.microsoft.com/office/drawing/2014/main" id="{878B4767-D9F8-46C8-AA3B-14EA145FAF77}"/>
              </a:ext>
            </a:extLst>
          </p:cNvPr>
          <p:cNvSpPr>
            <a:spLocks xmlns:a="http://schemas.openxmlformats.org/drawingml/2006/main" noGrp="1"/>
          </p:cNvSpPr>
          <p:nvPr/>
        </p:nvSpPr>
        <p:spPr>
          <a:xfrm xmlns:a="http://schemas.openxmlformats.org/drawingml/2006/main">
            <a:off x="4591050" y="2543175"/>
            <a:ext cx="6191250" cy="1981200"/>
          </a:xfrm>
          <a:prstGeom xmlns:a="http://schemas.openxmlformats.org/drawingml/2006/main" prst="roundRect">
            <a:avLst>
              <a:gd name="adj" fmla="val 2885"/>
            </a:avLst>
          </a:prstGeom>
          <a:solidFill xmlns:a="http://schemas.openxmlformats.org/drawingml/2006/main">
            <a:srgbClr val="EEF3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696780-F3E2-46F7-A9F8-E5397220A50E}"/>
              </a:ext>
            </a:extLst>
          </p:cNvPr>
          <p:cNvSpPr>
            <a:spLocks xmlns:a="http://schemas.openxmlformats.org/drawingml/2006/main" noGrp="1"/>
          </p:cNvSpPr>
          <p:nvPr/>
        </p:nvSpPr>
        <p:spPr>
          <a:xfrm xmlns:a="http://schemas.openxmlformats.org/drawingml/2006/main">
            <a:off x="4972050" y="2762250"/>
            <a:ext cx="541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3294B"/>
                </a:solidFill>
                <a:latin typeface="Arial"/>
                <a:ea typeface="Arial"/>
                <a:cs typeface="Arial"/>
              </a:defRPr>
            </a:pPr>
            <a:r>
              <a:rPr sz="1575" b="1">
                <a:solidFill>
                  <a:srgbClr val="13294B"/>
                </a:solidFill>
                <a:latin typeface="Arial"/>
                <a:ea typeface="Arial"/>
                <a:cs typeface="Arial"/>
              </a:rPr>
              <a:t>Source artwork       Traced boundaries</a:t>
            </a:r>
          </a:p>
        </p:txBody>
      </p:sp>
      <p:sp>
        <p:nvSpPr>
          <p:cNvPr id="20" name="">
            <a:extLst xmlns:a="http://schemas.openxmlformats.org/drawingml/2006/main">
              <a:ext uri="{FF2B5EF4-FFF2-40B4-BE49-F238E27FC236}">
                <a16:creationId xmlns:a16="http://schemas.microsoft.com/office/drawing/2014/main" id="{EAB6C730-593F-4A67-AC51-D561CDF54F5F}"/>
              </a:ext>
            </a:extLst>
          </p:cNvPr>
          <p:cNvSpPr>
            <a:spLocks xmlns:a="http://schemas.openxmlformats.org/drawingml/2006/main" noGrp="1"/>
          </p:cNvSpPr>
          <p:nvPr/>
        </p:nvSpPr>
        <p:spPr>
          <a:xfrm xmlns:a="http://schemas.openxmlformats.org/drawingml/2006/main">
            <a:off x="5143500" y="3352800"/>
            <a:ext cx="5067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0">
                <a:solidFill>
                  <a:srgbClr val="53647A"/>
                </a:solidFill>
                <a:latin typeface="Arial"/>
                <a:ea typeface="Arial"/>
                <a:cs typeface="Arial"/>
              </a:defRPr>
            </a:pPr>
            <a:r>
              <a:rPr sz="1800" b="0">
                <a:solidFill>
                  <a:srgbClr val="53647A"/>
                </a:solidFill>
                <a:latin typeface="Arial"/>
                <a:ea typeface="Arial"/>
                <a:cs typeface="Arial"/>
              </a:rPr>
              <a:t>Preview appears after conversion</a:t>
            </a:r>
          </a:p>
          <a:p xmlns:a="http://schemas.openxmlformats.org/drawingml/2006/main">
            <a:pPr algn="ctr">
              <a:defRPr sz="1800" b="0">
                <a:solidFill>
                  <a:srgbClr val="53647A"/>
                </a:solidFill>
                <a:latin typeface="Arial"/>
                <a:ea typeface="Arial"/>
                <a:cs typeface="Arial"/>
              </a:defRPr>
            </a:pPr>
            <a:r>
              <a:rPr sz="1800" b="0">
                <a:solidFill>
                  <a:srgbClr val="53647A"/>
                </a:solidFill>
                <a:latin typeface="Arial"/>
                <a:ea typeface="Arial"/>
                <a:cs typeface="Arial"/>
              </a:rPr>
              <a:t>with warnings that require review</a:t>
            </a:r>
          </a:p>
        </p:txBody>
      </p:sp>
      <p:sp>
        <p:nvSpPr>
          <p:cNvPr id="21" name="">
            <a:extLst xmlns:a="http://schemas.openxmlformats.org/drawingml/2006/main">
              <a:ext uri="{FF2B5EF4-FFF2-40B4-BE49-F238E27FC236}">
                <a16:creationId xmlns:a16="http://schemas.microsoft.com/office/drawing/2014/main" id="{29259B81-005E-4166-8276-6772C590FBD6}"/>
              </a:ext>
            </a:extLst>
          </p:cNvPr>
          <p:cNvSpPr>
            <a:spLocks xmlns:a="http://schemas.openxmlformats.org/drawingml/2006/main" noGrp="1"/>
          </p:cNvSpPr>
          <p:nvPr/>
        </p:nvSpPr>
        <p:spPr>
          <a:xfrm xmlns:a="http://schemas.openxmlformats.org/drawingml/2006/main">
            <a:off x="7448550" y="5048250"/>
            <a:ext cx="3333750" cy="514350"/>
          </a:xfrm>
          <a:prstGeom xmlns:a="http://schemas.openxmlformats.org/drawingml/2006/main" prst="roundRect">
            <a:avLst>
              <a:gd name="adj" fmla="val 11111"/>
            </a:avLst>
          </a:prstGeom>
          <a:solidFill xmlns:a="http://schemas.openxmlformats.org/drawingml/2006/main">
            <a:srgbClr val="D8ECF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B29DE91-3D23-4B48-92B2-92F46FCF4C40}"/>
              </a:ext>
            </a:extLst>
          </p:cNvPr>
          <p:cNvSpPr>
            <a:spLocks xmlns:a="http://schemas.openxmlformats.org/drawingml/2006/main" noGrp="1"/>
          </p:cNvSpPr>
          <p:nvPr/>
        </p:nvSpPr>
        <p:spPr>
          <a:xfrm xmlns:a="http://schemas.openxmlformats.org/drawingml/2006/main">
            <a:off x="7734300" y="515302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13294B"/>
                </a:solidFill>
                <a:latin typeface="Arial"/>
                <a:ea typeface="Arial"/>
                <a:cs typeface="Arial"/>
              </a:defRPr>
            </a:pPr>
            <a:r>
              <a:rPr sz="1725" b="1">
                <a:solidFill>
                  <a:srgbClr val="13294B"/>
                </a:solidFill>
                <a:latin typeface="Arial"/>
                <a:ea typeface="Arial"/>
                <a:cs typeface="Arial"/>
              </a:rPr>
              <a:t>Download DXF</a:t>
            </a:r>
          </a:p>
        </p:txBody>
      </p:sp>
    </p:spTree>
    <p:extLst>
      <p:ext uri="{BB962C8B-B14F-4D97-AF65-F5344CB8AC3E}">
        <p14:creationId xmlns:p14="http://schemas.microsoft.com/office/powerpoint/2010/main" val="154892949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27d2f0e4031478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78E525-27EE-4C2F-A531-6CD83A469D36}"/>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F7F9F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CDDB33-BBB9-4B2D-A86D-4FB4194107EB}"/>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System metaphor: a digital stencil workshop</a:t>
            </a:r>
          </a:p>
        </p:txBody>
      </p:sp>
      <p:sp>
        <p:nvSpPr>
          <p:cNvPr id="4" name="">
            <a:extLst xmlns:a="http://schemas.openxmlformats.org/drawingml/2006/main">
              <a:ext uri="{FF2B5EF4-FFF2-40B4-BE49-F238E27FC236}">
                <a16:creationId xmlns:a16="http://schemas.microsoft.com/office/drawing/2014/main" id="{52ACB9D6-B10E-4B96-B58F-2F60151A6B74}"/>
              </a:ext>
            </a:extLst>
          </p:cNvPr>
          <p:cNvSpPr>
            <a:spLocks xmlns:a="http://schemas.openxmlformats.org/drawingml/2006/main" noGrp="1"/>
          </p:cNvSpPr>
          <p:nvPr/>
        </p:nvSpPr>
        <p:spPr>
          <a:xfrm xmlns:a="http://schemas.openxmlformats.org/drawingml/2006/main">
            <a:off x="514350" y="1400175"/>
            <a:ext cx="4476750" cy="1952625"/>
          </a:xfrm>
          <a:prstGeom xmlns:a="http://schemas.openxmlformats.org/drawingml/2006/main" prst="roundRect">
            <a:avLst>
              <a:gd name="adj" fmla="val 3902"/>
            </a:avLst>
          </a:prstGeom>
          <a:solidFill xmlns:a="http://schemas.openxmlformats.org/drawingml/2006/main">
            <a:srgbClr val="F7F9F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F90B32-C5C8-45AE-BD3C-D48B79ABE111}"/>
              </a:ext>
            </a:extLst>
          </p:cNvPr>
          <p:cNvSpPr>
            <a:spLocks xmlns:a="http://schemas.openxmlformats.org/drawingml/2006/main" noGrp="1"/>
          </p:cNvSpPr>
          <p:nvPr/>
        </p:nvSpPr>
        <p:spPr>
          <a:xfrm xmlns:a="http://schemas.openxmlformats.org/drawingml/2006/main">
            <a:off x="742950" y="1647825"/>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3294B"/>
                </a:solidFill>
                <a:latin typeface="Arial"/>
                <a:ea typeface="Arial"/>
                <a:cs typeface="Arial"/>
              </a:defRPr>
            </a:pPr>
            <a:r>
              <a:rPr sz="2025" b="1">
                <a:solidFill>
                  <a:srgbClr val="13294B"/>
                </a:solidFill>
                <a:latin typeface="Arial"/>
                <a:ea typeface="Arial"/>
                <a:cs typeface="Arial"/>
              </a:rPr>
              <a:t>Artwork is the pattern.</a:t>
            </a:r>
          </a:p>
          <a:p xmlns:a="http://schemas.openxmlformats.org/drawingml/2006/main">
            <a:pPr algn="l">
              <a:defRPr sz="2025" b="1">
                <a:solidFill>
                  <a:srgbClr val="13294B"/>
                </a:solidFill>
                <a:latin typeface="Arial"/>
                <a:ea typeface="Arial"/>
                <a:cs typeface="Arial"/>
              </a:defRPr>
            </a:pPr>
            <a:r>
              <a:rPr sz="2025" b="1">
                <a:solidFill>
                  <a:srgbClr val="13294B"/>
                </a:solidFill>
                <a:latin typeface="Arial"/>
                <a:ea typeface="Arial"/>
                <a:cs typeface="Arial"/>
              </a:rPr>
              <a:t>Color regions are stencil pieces.</a:t>
            </a:r>
          </a:p>
          <a:p xmlns:a="http://schemas.openxmlformats.org/drawingml/2006/main">
            <a:pPr algn="l">
              <a:defRPr sz="2025" b="1">
                <a:solidFill>
                  <a:srgbClr val="13294B"/>
                </a:solidFill>
                <a:latin typeface="Arial"/>
                <a:ea typeface="Arial"/>
                <a:cs typeface="Arial"/>
              </a:defRPr>
            </a:pPr>
            <a:r>
              <a:rPr sz="2025" b="1">
                <a:solidFill>
                  <a:srgbClr val="13294B"/>
                </a:solidFill>
                <a:latin typeface="Arial"/>
                <a:ea typeface="Arial"/>
                <a:cs typeface="Arial"/>
              </a:rPr>
              <a:t>Tracing defines each edge.</a:t>
            </a:r>
          </a:p>
          <a:p xmlns:a="http://schemas.openxmlformats.org/drawingml/2006/main">
            <a:pPr algn="l">
              <a:defRPr sz="2025" b="1">
                <a:solidFill>
                  <a:srgbClr val="13294B"/>
                </a:solidFill>
                <a:latin typeface="Arial"/>
                <a:ea typeface="Arial"/>
                <a:cs typeface="Arial"/>
              </a:defRPr>
            </a:pPr>
            <a:r>
              <a:rPr sz="2025" b="1">
                <a:solidFill>
                  <a:srgbClr val="13294B"/>
                </a:solidFill>
                <a:latin typeface="Arial"/>
                <a:ea typeface="Arial"/>
                <a:cs typeface="Arial"/>
              </a:rPr>
              <a:t>DXF packages the pieces.</a:t>
            </a:r>
          </a:p>
        </p:txBody>
      </p:sp>
      <p:sp>
        <p:nvSpPr>
          <p:cNvPr id="6" name="">
            <a:extLst xmlns:a="http://schemas.openxmlformats.org/drawingml/2006/main">
              <a:ext uri="{FF2B5EF4-FFF2-40B4-BE49-F238E27FC236}">
                <a16:creationId xmlns:a16="http://schemas.microsoft.com/office/drawing/2014/main" id="{82DBBA01-9BEC-4B8A-955F-16C01FA93793}"/>
              </a:ext>
            </a:extLst>
          </p:cNvPr>
          <p:cNvSpPr>
            <a:spLocks xmlns:a="http://schemas.openxmlformats.org/drawingml/2006/main" noGrp="1"/>
          </p:cNvSpPr>
          <p:nvPr/>
        </p:nvSpPr>
        <p:spPr>
          <a:xfrm xmlns:a="http://schemas.openxmlformats.org/drawingml/2006/main">
            <a:off x="8239125" y="6496050"/>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3647A"/>
                </a:solidFill>
                <a:latin typeface="Arial"/>
                <a:ea typeface="Arial"/>
                <a:cs typeface="Arial"/>
              </a:defRPr>
            </a:pPr>
            <a:r>
              <a:rPr sz="975" b="0">
                <a:solidFill>
                  <a:srgbClr val="53647A"/>
                </a:solidFill>
                <a:latin typeface="Arial"/>
                <a:ea typeface="Arial"/>
                <a:cs typeface="Arial"/>
              </a:rPr>
              <a:t>Representative generated illustration</a:t>
            </a:r>
          </a:p>
        </p:txBody>
      </p:sp>
      <p:sp>
        <p:nvSpPr>
          <p:cNvPr id="7" name="">
            <a:extLst xmlns:a="http://schemas.openxmlformats.org/drawingml/2006/main">
              <a:ext uri="{FF2B5EF4-FFF2-40B4-BE49-F238E27FC236}">
                <a16:creationId xmlns:a16="http://schemas.microsoft.com/office/drawing/2014/main" id="{B8BB3DA8-D7FC-4002-8D03-7954F2289048}"/>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5   Adcut Logo Vectorizer / Team E</a:t>
            </a:r>
          </a:p>
        </p:txBody>
      </p:sp>
    </p:spTree>
    <p:extLst>
      <p:ext uri="{BB962C8B-B14F-4D97-AF65-F5344CB8AC3E}">
        <p14:creationId xmlns:p14="http://schemas.microsoft.com/office/powerpoint/2010/main" val="74990562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5371F6D-446A-42AF-8661-B1C90E81BB26}"/>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Proposed system architecture</a:t>
            </a:r>
          </a:p>
        </p:txBody>
      </p:sp>
      <p:sp>
        <p:nvSpPr>
          <p:cNvPr id="2" name="">
            <a:extLst xmlns:a="http://schemas.openxmlformats.org/drawingml/2006/main">
              <a:ext uri="{FF2B5EF4-FFF2-40B4-BE49-F238E27FC236}">
                <a16:creationId xmlns:a16="http://schemas.microsoft.com/office/drawing/2014/main" id="{C792867B-20C8-464C-8D0D-02CF4A982D78}"/>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6   Adcut Logo Vectorizer / Team E</a:t>
            </a:r>
          </a:p>
        </p:txBody>
      </p:sp>
      <p:sp>
        <p:nvSpPr>
          <p:cNvPr id="3" name="">
            <a:extLst xmlns:a="http://schemas.openxmlformats.org/drawingml/2006/main">
              <a:ext uri="{FF2B5EF4-FFF2-40B4-BE49-F238E27FC236}">
                <a16:creationId xmlns:a16="http://schemas.microsoft.com/office/drawing/2014/main" id="{5F769124-50C2-4D5B-AFB4-F5A820AA602C}"/>
              </a:ext>
            </a:extLst>
          </p:cNvPr>
          <p:cNvSpPr>
            <a:spLocks xmlns:a="http://schemas.openxmlformats.org/drawingml/2006/main" noGrp="1"/>
          </p:cNvSpPr>
          <p:nvPr/>
        </p:nvSpPr>
        <p:spPr>
          <a:xfrm xmlns:a="http://schemas.openxmlformats.org/drawingml/2006/main">
            <a:off x="514350" y="1676400"/>
            <a:ext cx="2000250" cy="2714625"/>
          </a:xfrm>
          <a:prstGeom xmlns:a="http://schemas.openxmlformats.org/drawingml/2006/main" prst="roundRect">
            <a:avLst>
              <a:gd name="adj" fmla="val 3810"/>
            </a:avLst>
          </a:prstGeom>
          <a:solidFill xmlns:a="http://schemas.openxmlformats.org/drawingml/2006/main">
            <a:srgbClr val="13294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BF5680-8E30-4C28-A89F-69B4330D6F1B}"/>
              </a:ext>
            </a:extLst>
          </p:cNvPr>
          <p:cNvSpPr>
            <a:spLocks xmlns:a="http://schemas.openxmlformats.org/drawingml/2006/main" noGrp="1"/>
          </p:cNvSpPr>
          <p:nvPr/>
        </p:nvSpPr>
        <p:spPr>
          <a:xfrm xmlns:a="http://schemas.openxmlformats.org/drawingml/2006/main">
            <a:off x="704850" y="18669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1EE72E6-F528-484C-8B49-75E6A8CF4301}"/>
              </a:ext>
            </a:extLst>
          </p:cNvPr>
          <p:cNvSpPr>
            <a:spLocks xmlns:a="http://schemas.openxmlformats.org/drawingml/2006/main" noGrp="1"/>
          </p:cNvSpPr>
          <p:nvPr/>
        </p:nvSpPr>
        <p:spPr>
          <a:xfrm xmlns:a="http://schemas.openxmlformats.org/drawingml/2006/main">
            <a:off x="704850" y="23812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Interface</a:t>
            </a:r>
          </a:p>
        </p:txBody>
      </p:sp>
      <p:sp>
        <p:nvSpPr>
          <p:cNvPr id="6" name="">
            <a:extLst xmlns:a="http://schemas.openxmlformats.org/drawingml/2006/main">
              <a:ext uri="{FF2B5EF4-FFF2-40B4-BE49-F238E27FC236}">
                <a16:creationId xmlns:a16="http://schemas.microsoft.com/office/drawing/2014/main" id="{8A680B1C-8D08-49F4-B522-EE3FAD79EBB5}"/>
              </a:ext>
            </a:extLst>
          </p:cNvPr>
          <p:cNvSpPr>
            <a:spLocks xmlns:a="http://schemas.openxmlformats.org/drawingml/2006/main" noGrp="1"/>
          </p:cNvSpPr>
          <p:nvPr/>
        </p:nvSpPr>
        <p:spPr>
          <a:xfrm xmlns:a="http://schemas.openxmlformats.org/drawingml/2006/main">
            <a:off x="704850" y="3095625"/>
            <a:ext cx="161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Streamlit</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files, scale, status</a:t>
            </a:r>
          </a:p>
        </p:txBody>
      </p:sp>
      <p:sp>
        <p:nvSpPr>
          <p:cNvPr id="7" name="">
            <a:extLst xmlns:a="http://schemas.openxmlformats.org/drawingml/2006/main">
              <a:ext uri="{FF2B5EF4-FFF2-40B4-BE49-F238E27FC236}">
                <a16:creationId xmlns:a16="http://schemas.microsoft.com/office/drawing/2014/main" id="{78771DBB-C5DC-4D6E-86A2-23373A74CC4A}"/>
              </a:ext>
            </a:extLst>
          </p:cNvPr>
          <p:cNvSpPr>
            <a:spLocks xmlns:a="http://schemas.openxmlformats.org/drawingml/2006/main" noGrp="1"/>
          </p:cNvSpPr>
          <p:nvPr/>
        </p:nvSpPr>
        <p:spPr>
          <a:xfrm xmlns:a="http://schemas.openxmlformats.org/drawingml/2006/main">
            <a:off x="2524125" y="2628900"/>
            <a:ext cx="30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4B9CD3"/>
                </a:solidFill>
                <a:latin typeface="Arial"/>
                <a:ea typeface="Arial"/>
                <a:cs typeface="Arial"/>
              </a:defRPr>
            </a:pPr>
            <a:r>
              <a:rPr sz="2550" b="1">
                <a:solidFill>
                  <a:srgbClr val="4B9CD3"/>
                </a:solidFill>
                <a:latin typeface="Arial"/>
                <a:ea typeface="Arial"/>
                <a:cs typeface="Arial"/>
              </a:rPr>
              <a:t>&gt;</a:t>
            </a:r>
          </a:p>
        </p:txBody>
      </p:sp>
      <p:sp>
        <p:nvSpPr>
          <p:cNvPr id="8" name="">
            <a:extLst xmlns:a="http://schemas.openxmlformats.org/drawingml/2006/main">
              <a:ext uri="{FF2B5EF4-FFF2-40B4-BE49-F238E27FC236}">
                <a16:creationId xmlns:a16="http://schemas.microsoft.com/office/drawing/2014/main" id="{17B38234-52BC-408F-BC4C-2814F5D3A523}"/>
              </a:ext>
            </a:extLst>
          </p:cNvPr>
          <p:cNvSpPr>
            <a:spLocks xmlns:a="http://schemas.openxmlformats.org/drawingml/2006/main" noGrp="1"/>
          </p:cNvSpPr>
          <p:nvPr/>
        </p:nvSpPr>
        <p:spPr>
          <a:xfrm xmlns:a="http://schemas.openxmlformats.org/drawingml/2006/main">
            <a:off x="2838450" y="1676400"/>
            <a:ext cx="2000250" cy="2714625"/>
          </a:xfrm>
          <a:prstGeom xmlns:a="http://schemas.openxmlformats.org/drawingml/2006/main" prst="roundRect">
            <a:avLst>
              <a:gd name="adj" fmla="val 3810"/>
            </a:avLst>
          </a:prstGeom>
          <a:solidFill xmlns:a="http://schemas.openxmlformats.org/drawingml/2006/main">
            <a:srgbClr val="D8EC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4507293-04CD-4898-9E03-0DA8A70FD634}"/>
              </a:ext>
            </a:extLst>
          </p:cNvPr>
          <p:cNvSpPr>
            <a:spLocks xmlns:a="http://schemas.openxmlformats.org/drawingml/2006/main" noGrp="1"/>
          </p:cNvSpPr>
          <p:nvPr/>
        </p:nvSpPr>
        <p:spPr>
          <a:xfrm xmlns:a="http://schemas.openxmlformats.org/drawingml/2006/main">
            <a:off x="3028950" y="18669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3294B"/>
                </a:solidFill>
                <a:latin typeface="Arial"/>
                <a:ea typeface="Arial"/>
                <a:cs typeface="Arial"/>
              </a:defRPr>
            </a:pPr>
            <a:r>
              <a:rPr sz="1500" b="1">
                <a:solidFill>
                  <a:srgbClr val="1329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5F4A91D-61B9-407C-9D0A-AE77B297ECB0}"/>
              </a:ext>
            </a:extLst>
          </p:cNvPr>
          <p:cNvSpPr>
            <a:spLocks xmlns:a="http://schemas.openxmlformats.org/drawingml/2006/main" noGrp="1"/>
          </p:cNvSpPr>
          <p:nvPr/>
        </p:nvSpPr>
        <p:spPr>
          <a:xfrm xmlns:a="http://schemas.openxmlformats.org/drawingml/2006/main">
            <a:off x="3028950" y="23812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3294B"/>
                </a:solidFill>
                <a:latin typeface="Arial"/>
                <a:ea typeface="Arial"/>
                <a:cs typeface="Arial"/>
              </a:defRPr>
            </a:pPr>
            <a:r>
              <a:rPr sz="2100" b="1">
                <a:solidFill>
                  <a:srgbClr val="13294B"/>
                </a:solidFill>
                <a:latin typeface="Arial"/>
                <a:ea typeface="Arial"/>
                <a:cs typeface="Arial"/>
              </a:rPr>
              <a:t>Input</a:t>
            </a:r>
          </a:p>
        </p:txBody>
      </p:sp>
      <p:sp>
        <p:nvSpPr>
          <p:cNvPr id="11" name="">
            <a:extLst xmlns:a="http://schemas.openxmlformats.org/drawingml/2006/main">
              <a:ext uri="{FF2B5EF4-FFF2-40B4-BE49-F238E27FC236}">
                <a16:creationId xmlns:a16="http://schemas.microsoft.com/office/drawing/2014/main" id="{93B54D9C-68B0-4D63-B271-0AD07991EA17}"/>
              </a:ext>
            </a:extLst>
          </p:cNvPr>
          <p:cNvSpPr>
            <a:spLocks xmlns:a="http://schemas.openxmlformats.org/drawingml/2006/main" noGrp="1"/>
          </p:cNvSpPr>
          <p:nvPr/>
        </p:nvSpPr>
        <p:spPr>
          <a:xfrm xmlns:a="http://schemas.openxmlformats.org/drawingml/2006/main">
            <a:off x="3028950" y="3095625"/>
            <a:ext cx="161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3294B"/>
                </a:solidFill>
                <a:latin typeface="Arial"/>
                <a:ea typeface="Arial"/>
                <a:cs typeface="Arial"/>
              </a:defRPr>
            </a:pPr>
            <a:r>
              <a:rPr sz="1500" b="0">
                <a:solidFill>
                  <a:srgbClr val="13294B"/>
                </a:solidFill>
                <a:latin typeface="Arial"/>
                <a:ea typeface="Arial"/>
                <a:cs typeface="Arial"/>
              </a:rPr>
              <a:t>Pillow / PDFium</a:t>
            </a:r>
          </a:p>
          <a:p xmlns:a="http://schemas.openxmlformats.org/drawingml/2006/main">
            <a:pPr algn="l">
              <a:defRPr sz="1500" b="0">
                <a:solidFill>
                  <a:srgbClr val="13294B"/>
                </a:solidFill>
                <a:latin typeface="Arial"/>
                <a:ea typeface="Arial"/>
                <a:cs typeface="Arial"/>
              </a:defRPr>
            </a:pPr>
            <a:r>
              <a:rPr sz="1500" b="0">
                <a:solidFill>
                  <a:srgbClr val="13294B"/>
                </a:solidFill>
                <a:latin typeface="Arial"/>
                <a:ea typeface="Arial"/>
                <a:cs typeface="Arial"/>
              </a:rPr>
              <a:t>decode and metadata</a:t>
            </a:r>
          </a:p>
        </p:txBody>
      </p:sp>
      <p:sp>
        <p:nvSpPr>
          <p:cNvPr id="12" name="">
            <a:extLst xmlns:a="http://schemas.openxmlformats.org/drawingml/2006/main">
              <a:ext uri="{FF2B5EF4-FFF2-40B4-BE49-F238E27FC236}">
                <a16:creationId xmlns:a16="http://schemas.microsoft.com/office/drawing/2014/main" id="{56B9D6BC-3C7D-4481-BE13-39FE73807D22}"/>
              </a:ext>
            </a:extLst>
          </p:cNvPr>
          <p:cNvSpPr>
            <a:spLocks xmlns:a="http://schemas.openxmlformats.org/drawingml/2006/main" noGrp="1"/>
          </p:cNvSpPr>
          <p:nvPr/>
        </p:nvSpPr>
        <p:spPr>
          <a:xfrm xmlns:a="http://schemas.openxmlformats.org/drawingml/2006/main">
            <a:off x="4848225" y="2628900"/>
            <a:ext cx="30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4B9CD3"/>
                </a:solidFill>
                <a:latin typeface="Arial"/>
                <a:ea typeface="Arial"/>
                <a:cs typeface="Arial"/>
              </a:defRPr>
            </a:pPr>
            <a:r>
              <a:rPr sz="2550" b="1">
                <a:solidFill>
                  <a:srgbClr val="4B9CD3"/>
                </a:solidFill>
                <a:latin typeface="Arial"/>
                <a:ea typeface="Arial"/>
                <a:cs typeface="Arial"/>
              </a:rPr>
              <a:t>&gt;</a:t>
            </a:r>
          </a:p>
        </p:txBody>
      </p:sp>
      <p:sp>
        <p:nvSpPr>
          <p:cNvPr id="13" name="">
            <a:extLst xmlns:a="http://schemas.openxmlformats.org/drawingml/2006/main">
              <a:ext uri="{FF2B5EF4-FFF2-40B4-BE49-F238E27FC236}">
                <a16:creationId xmlns:a16="http://schemas.microsoft.com/office/drawing/2014/main" id="{132BF86B-A368-4EA9-9EA7-BD52DB87BF64}"/>
              </a:ext>
            </a:extLst>
          </p:cNvPr>
          <p:cNvSpPr>
            <a:spLocks xmlns:a="http://schemas.openxmlformats.org/drawingml/2006/main" noGrp="1"/>
          </p:cNvSpPr>
          <p:nvPr/>
        </p:nvSpPr>
        <p:spPr>
          <a:xfrm xmlns:a="http://schemas.openxmlformats.org/drawingml/2006/main">
            <a:off x="5162550" y="1676400"/>
            <a:ext cx="2000250" cy="2714625"/>
          </a:xfrm>
          <a:prstGeom xmlns:a="http://schemas.openxmlformats.org/drawingml/2006/main" prst="roundRect">
            <a:avLst>
              <a:gd name="adj" fmla="val 3810"/>
            </a:avLst>
          </a:prstGeom>
          <a:solidFill xmlns:a="http://schemas.openxmlformats.org/drawingml/2006/main">
            <a:srgbClr val="D8ECF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1DFC43A-E189-4DC6-9F84-91C20467BE84}"/>
              </a:ext>
            </a:extLst>
          </p:cNvPr>
          <p:cNvSpPr>
            <a:spLocks xmlns:a="http://schemas.openxmlformats.org/drawingml/2006/main" noGrp="1"/>
          </p:cNvSpPr>
          <p:nvPr/>
        </p:nvSpPr>
        <p:spPr>
          <a:xfrm xmlns:a="http://schemas.openxmlformats.org/drawingml/2006/main">
            <a:off x="5353050" y="18669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3294B"/>
                </a:solidFill>
                <a:latin typeface="Arial"/>
                <a:ea typeface="Arial"/>
                <a:cs typeface="Arial"/>
              </a:defRPr>
            </a:pPr>
            <a:r>
              <a:rPr sz="1500" b="1">
                <a:solidFill>
                  <a:srgbClr val="13294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E1705A6-240B-4FC2-A662-4401467824F2}"/>
              </a:ext>
            </a:extLst>
          </p:cNvPr>
          <p:cNvSpPr>
            <a:spLocks xmlns:a="http://schemas.openxmlformats.org/drawingml/2006/main" noGrp="1"/>
          </p:cNvSpPr>
          <p:nvPr/>
        </p:nvSpPr>
        <p:spPr>
          <a:xfrm xmlns:a="http://schemas.openxmlformats.org/drawingml/2006/main">
            <a:off x="5353050" y="23812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3294B"/>
                </a:solidFill>
                <a:latin typeface="Arial"/>
                <a:ea typeface="Arial"/>
                <a:cs typeface="Arial"/>
              </a:defRPr>
            </a:pPr>
            <a:r>
              <a:rPr sz="2100" b="1">
                <a:solidFill>
                  <a:srgbClr val="13294B"/>
                </a:solidFill>
                <a:latin typeface="Arial"/>
                <a:ea typeface="Arial"/>
                <a:cs typeface="Arial"/>
              </a:rPr>
              <a:t>Regions</a:t>
            </a:r>
          </a:p>
        </p:txBody>
      </p:sp>
      <p:sp>
        <p:nvSpPr>
          <p:cNvPr id="16" name="">
            <a:extLst xmlns:a="http://schemas.openxmlformats.org/drawingml/2006/main">
              <a:ext uri="{FF2B5EF4-FFF2-40B4-BE49-F238E27FC236}">
                <a16:creationId xmlns:a16="http://schemas.microsoft.com/office/drawing/2014/main" id="{49EF7194-331D-4E3C-B289-19BF2588A678}"/>
              </a:ext>
            </a:extLst>
          </p:cNvPr>
          <p:cNvSpPr>
            <a:spLocks xmlns:a="http://schemas.openxmlformats.org/drawingml/2006/main" noGrp="1"/>
          </p:cNvSpPr>
          <p:nvPr/>
        </p:nvSpPr>
        <p:spPr>
          <a:xfrm xmlns:a="http://schemas.openxmlformats.org/drawingml/2006/main">
            <a:off x="5353050" y="3095625"/>
            <a:ext cx="161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3294B"/>
                </a:solidFill>
                <a:latin typeface="Arial"/>
                <a:ea typeface="Arial"/>
                <a:cs typeface="Arial"/>
              </a:defRPr>
            </a:pPr>
            <a:r>
              <a:rPr sz="1500" b="0">
                <a:solidFill>
                  <a:srgbClr val="13294B"/>
                </a:solidFill>
                <a:latin typeface="Arial"/>
                <a:ea typeface="Arial"/>
                <a:cs typeface="Arial"/>
              </a:rPr>
              <a:t>OpenCV / NumPy</a:t>
            </a:r>
          </a:p>
          <a:p xmlns:a="http://schemas.openxmlformats.org/drawingml/2006/main">
            <a:pPr algn="l">
              <a:defRPr sz="1500" b="0">
                <a:solidFill>
                  <a:srgbClr val="13294B"/>
                </a:solidFill>
                <a:latin typeface="Arial"/>
                <a:ea typeface="Arial"/>
                <a:cs typeface="Arial"/>
              </a:defRPr>
            </a:pPr>
            <a:r>
              <a:rPr sz="1500" b="0">
                <a:solidFill>
                  <a:srgbClr val="13294B"/>
                </a:solidFill>
                <a:latin typeface="Arial"/>
                <a:ea typeface="Arial"/>
                <a:cs typeface="Arial"/>
              </a:rPr>
              <a:t>colors and topology</a:t>
            </a:r>
          </a:p>
        </p:txBody>
      </p:sp>
      <p:sp>
        <p:nvSpPr>
          <p:cNvPr id="17" name="">
            <a:extLst xmlns:a="http://schemas.openxmlformats.org/drawingml/2006/main">
              <a:ext uri="{FF2B5EF4-FFF2-40B4-BE49-F238E27FC236}">
                <a16:creationId xmlns:a16="http://schemas.microsoft.com/office/drawing/2014/main" id="{7A1A3DDF-0399-492A-BD19-0334B034A392}"/>
              </a:ext>
            </a:extLst>
          </p:cNvPr>
          <p:cNvSpPr>
            <a:spLocks xmlns:a="http://schemas.openxmlformats.org/drawingml/2006/main" noGrp="1"/>
          </p:cNvSpPr>
          <p:nvPr/>
        </p:nvSpPr>
        <p:spPr>
          <a:xfrm xmlns:a="http://schemas.openxmlformats.org/drawingml/2006/main">
            <a:off x="7172325" y="2628900"/>
            <a:ext cx="30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4B9CD3"/>
                </a:solidFill>
                <a:latin typeface="Arial"/>
                <a:ea typeface="Arial"/>
                <a:cs typeface="Arial"/>
              </a:defRPr>
            </a:pPr>
            <a:r>
              <a:rPr sz="2550" b="1">
                <a:solidFill>
                  <a:srgbClr val="4B9CD3"/>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65545C03-AAAA-4DBD-AE94-11219F3DF40E}"/>
              </a:ext>
            </a:extLst>
          </p:cNvPr>
          <p:cNvSpPr>
            <a:spLocks xmlns:a="http://schemas.openxmlformats.org/drawingml/2006/main" noGrp="1"/>
          </p:cNvSpPr>
          <p:nvPr/>
        </p:nvSpPr>
        <p:spPr>
          <a:xfrm xmlns:a="http://schemas.openxmlformats.org/drawingml/2006/main">
            <a:off x="7486650" y="1676400"/>
            <a:ext cx="2000250" cy="2714625"/>
          </a:xfrm>
          <a:prstGeom xmlns:a="http://schemas.openxmlformats.org/drawingml/2006/main" prst="roundRect">
            <a:avLst>
              <a:gd name="adj" fmla="val 3810"/>
            </a:avLst>
          </a:prstGeom>
          <a:solidFill xmlns:a="http://schemas.openxmlformats.org/drawingml/2006/main">
            <a:srgbClr val="D8ECF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818718C-B1D4-4252-A7B4-65BE685092CC}"/>
              </a:ext>
            </a:extLst>
          </p:cNvPr>
          <p:cNvSpPr>
            <a:spLocks xmlns:a="http://schemas.openxmlformats.org/drawingml/2006/main" noGrp="1"/>
          </p:cNvSpPr>
          <p:nvPr/>
        </p:nvSpPr>
        <p:spPr>
          <a:xfrm xmlns:a="http://schemas.openxmlformats.org/drawingml/2006/main">
            <a:off x="7677150" y="18669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3294B"/>
                </a:solidFill>
                <a:latin typeface="Arial"/>
                <a:ea typeface="Arial"/>
                <a:cs typeface="Arial"/>
              </a:defRPr>
            </a:pPr>
            <a:r>
              <a:rPr sz="1500" b="1">
                <a:solidFill>
                  <a:srgbClr val="13294B"/>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D5980DE6-F19B-4269-9FC6-33E998ACFC4B}"/>
              </a:ext>
            </a:extLst>
          </p:cNvPr>
          <p:cNvSpPr>
            <a:spLocks xmlns:a="http://schemas.openxmlformats.org/drawingml/2006/main" noGrp="1"/>
          </p:cNvSpPr>
          <p:nvPr/>
        </p:nvSpPr>
        <p:spPr>
          <a:xfrm xmlns:a="http://schemas.openxmlformats.org/drawingml/2006/main">
            <a:off x="7677150" y="23812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3294B"/>
                </a:solidFill>
                <a:latin typeface="Arial"/>
                <a:ea typeface="Arial"/>
                <a:cs typeface="Arial"/>
              </a:defRPr>
            </a:pPr>
            <a:r>
              <a:rPr sz="2100" b="1">
                <a:solidFill>
                  <a:srgbClr val="13294B"/>
                </a:solidFill>
                <a:latin typeface="Arial"/>
                <a:ea typeface="Arial"/>
                <a:cs typeface="Arial"/>
              </a:rPr>
              <a:t>Geometry</a:t>
            </a:r>
          </a:p>
        </p:txBody>
      </p:sp>
      <p:sp>
        <p:nvSpPr>
          <p:cNvPr id="21" name="">
            <a:extLst xmlns:a="http://schemas.openxmlformats.org/drawingml/2006/main">
              <a:ext uri="{FF2B5EF4-FFF2-40B4-BE49-F238E27FC236}">
                <a16:creationId xmlns:a16="http://schemas.microsoft.com/office/drawing/2014/main" id="{CBA753C1-524C-4231-BAF1-A7BCF70BFFC2}"/>
              </a:ext>
            </a:extLst>
          </p:cNvPr>
          <p:cNvSpPr>
            <a:spLocks xmlns:a="http://schemas.openxmlformats.org/drawingml/2006/main" noGrp="1"/>
          </p:cNvSpPr>
          <p:nvPr/>
        </p:nvSpPr>
        <p:spPr>
          <a:xfrm xmlns:a="http://schemas.openxmlformats.org/drawingml/2006/main">
            <a:off x="7677150" y="3095625"/>
            <a:ext cx="161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3294B"/>
                </a:solidFill>
                <a:latin typeface="Arial"/>
                <a:ea typeface="Arial"/>
                <a:cs typeface="Arial"/>
              </a:defRPr>
            </a:pPr>
            <a:r>
              <a:rPr sz="1500" b="0">
                <a:solidFill>
                  <a:srgbClr val="13294B"/>
                </a:solidFill>
                <a:latin typeface="Arial"/>
                <a:ea typeface="Arial"/>
                <a:cs typeface="Arial"/>
              </a:rPr>
              <a:t>shared edges</a:t>
            </a:r>
          </a:p>
          <a:p xmlns:a="http://schemas.openxmlformats.org/drawingml/2006/main">
            <a:pPr algn="l">
              <a:defRPr sz="1500" b="0">
                <a:solidFill>
                  <a:srgbClr val="13294B"/>
                </a:solidFill>
                <a:latin typeface="Arial"/>
                <a:ea typeface="Arial"/>
                <a:cs typeface="Arial"/>
              </a:defRPr>
            </a:pPr>
            <a:r>
              <a:rPr sz="1500" b="0">
                <a:solidFill>
                  <a:srgbClr val="13294B"/>
                </a:solidFill>
                <a:latin typeface="Arial"/>
                <a:ea typeface="Arial"/>
                <a:cs typeface="Arial"/>
              </a:rPr>
              <a:t>lines, circles, arcs</a:t>
            </a:r>
          </a:p>
        </p:txBody>
      </p:sp>
      <p:sp>
        <p:nvSpPr>
          <p:cNvPr id="22" name="">
            <a:extLst xmlns:a="http://schemas.openxmlformats.org/drawingml/2006/main">
              <a:ext uri="{FF2B5EF4-FFF2-40B4-BE49-F238E27FC236}">
                <a16:creationId xmlns:a16="http://schemas.microsoft.com/office/drawing/2014/main" id="{29C5FE14-ED0F-4BAF-99B4-FD12055DDFAA}"/>
              </a:ext>
            </a:extLst>
          </p:cNvPr>
          <p:cNvSpPr>
            <a:spLocks xmlns:a="http://schemas.openxmlformats.org/drawingml/2006/main" noGrp="1"/>
          </p:cNvSpPr>
          <p:nvPr/>
        </p:nvSpPr>
        <p:spPr>
          <a:xfrm xmlns:a="http://schemas.openxmlformats.org/drawingml/2006/main">
            <a:off x="9496425" y="2628900"/>
            <a:ext cx="30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4B9CD3"/>
                </a:solidFill>
                <a:latin typeface="Arial"/>
                <a:ea typeface="Arial"/>
                <a:cs typeface="Arial"/>
              </a:defRPr>
            </a:pPr>
            <a:r>
              <a:rPr sz="2550" b="1">
                <a:solidFill>
                  <a:srgbClr val="4B9CD3"/>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AA229FC2-26A9-41AC-B513-6B488F6995C1}"/>
              </a:ext>
            </a:extLst>
          </p:cNvPr>
          <p:cNvSpPr>
            <a:spLocks xmlns:a="http://schemas.openxmlformats.org/drawingml/2006/main" noGrp="1"/>
          </p:cNvSpPr>
          <p:nvPr/>
        </p:nvSpPr>
        <p:spPr>
          <a:xfrm xmlns:a="http://schemas.openxmlformats.org/drawingml/2006/main">
            <a:off x="9810750" y="1676400"/>
            <a:ext cx="2000250" cy="2714625"/>
          </a:xfrm>
          <a:prstGeom xmlns:a="http://schemas.openxmlformats.org/drawingml/2006/main" prst="roundRect">
            <a:avLst>
              <a:gd name="adj" fmla="val 3810"/>
            </a:avLst>
          </a:prstGeom>
          <a:solidFill xmlns:a="http://schemas.openxmlformats.org/drawingml/2006/main">
            <a:srgbClr val="4B9CD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EA91FB6-2183-4CC1-AEF5-F5D0524A6306}"/>
              </a:ext>
            </a:extLst>
          </p:cNvPr>
          <p:cNvSpPr>
            <a:spLocks xmlns:a="http://schemas.openxmlformats.org/drawingml/2006/main" noGrp="1"/>
          </p:cNvSpPr>
          <p:nvPr/>
        </p:nvSpPr>
        <p:spPr>
          <a:xfrm xmlns:a="http://schemas.openxmlformats.org/drawingml/2006/main">
            <a:off x="10001250" y="18669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B002169E-AC14-4914-B825-5A69935DDE20}"/>
              </a:ext>
            </a:extLst>
          </p:cNvPr>
          <p:cNvSpPr>
            <a:spLocks xmlns:a="http://schemas.openxmlformats.org/drawingml/2006/main" noGrp="1"/>
          </p:cNvSpPr>
          <p:nvPr/>
        </p:nvSpPr>
        <p:spPr>
          <a:xfrm xmlns:a="http://schemas.openxmlformats.org/drawingml/2006/main">
            <a:off x="10001250" y="23812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Export</a:t>
            </a:r>
          </a:p>
        </p:txBody>
      </p:sp>
      <p:sp>
        <p:nvSpPr>
          <p:cNvPr id="26" name="">
            <a:extLst xmlns:a="http://schemas.openxmlformats.org/drawingml/2006/main">
              <a:ext uri="{FF2B5EF4-FFF2-40B4-BE49-F238E27FC236}">
                <a16:creationId xmlns:a16="http://schemas.microsoft.com/office/drawing/2014/main" id="{A4C68788-A2D9-4D13-BA80-FB2422D6D11D}"/>
              </a:ext>
            </a:extLst>
          </p:cNvPr>
          <p:cNvSpPr>
            <a:spLocks xmlns:a="http://schemas.openxmlformats.org/drawingml/2006/main" noGrp="1"/>
          </p:cNvSpPr>
          <p:nvPr/>
        </p:nvSpPr>
        <p:spPr>
          <a:xfrm xmlns:a="http://schemas.openxmlformats.org/drawingml/2006/main">
            <a:off x="10001250" y="3095625"/>
            <a:ext cx="161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validation + ezdxf</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DXF download</a:t>
            </a:r>
          </a:p>
        </p:txBody>
      </p:sp>
      <p:sp>
        <p:nvSpPr>
          <p:cNvPr id="27" name="">
            <a:extLst xmlns:a="http://schemas.openxmlformats.org/drawingml/2006/main">
              <a:ext uri="{FF2B5EF4-FFF2-40B4-BE49-F238E27FC236}">
                <a16:creationId xmlns:a16="http://schemas.microsoft.com/office/drawing/2014/main" id="{213B53EA-A292-4D66-9B92-67E9B8098F6A}"/>
              </a:ext>
            </a:extLst>
          </p:cNvPr>
          <p:cNvSpPr>
            <a:spLocks xmlns:a="http://schemas.openxmlformats.org/drawingml/2006/main" noGrp="1"/>
          </p:cNvSpPr>
          <p:nvPr/>
        </p:nvSpPr>
        <p:spPr>
          <a:xfrm xmlns:a="http://schemas.openxmlformats.org/drawingml/2006/main">
            <a:off x="1143000" y="49530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3294B"/>
                </a:solidFill>
                <a:latin typeface="Arial"/>
                <a:ea typeface="Arial"/>
                <a:cs typeface="Arial"/>
              </a:defRPr>
            </a:pPr>
            <a:r>
              <a:rPr sz="1800" b="1">
                <a:solidFill>
                  <a:srgbClr val="13294B"/>
                </a:solidFill>
                <a:latin typeface="Arial"/>
                <a:ea typeface="Arial"/>
                <a:cs typeface="Arial"/>
              </a:rPr>
              <a:t>External acceptance</a:t>
            </a:r>
          </a:p>
        </p:txBody>
      </p:sp>
      <p:sp>
        <p:nvSpPr>
          <p:cNvPr id="28" name="">
            <a:extLst xmlns:a="http://schemas.openxmlformats.org/drawingml/2006/main">
              <a:ext uri="{FF2B5EF4-FFF2-40B4-BE49-F238E27FC236}">
                <a16:creationId xmlns:a16="http://schemas.microsoft.com/office/drawing/2014/main" id="{3BE25356-3EA0-45E0-BF7C-67D2AF7E637C}"/>
              </a:ext>
            </a:extLst>
          </p:cNvPr>
          <p:cNvSpPr>
            <a:spLocks xmlns:a="http://schemas.openxmlformats.org/drawingml/2006/main" noGrp="1"/>
          </p:cNvSpPr>
          <p:nvPr/>
        </p:nvSpPr>
        <p:spPr>
          <a:xfrm xmlns:a="http://schemas.openxmlformats.org/drawingml/2006/main">
            <a:off x="3686175" y="4953000"/>
            <a:ext cx="7391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AutoCAD / IGEMS import and Adcut workflow validation</a:t>
            </a:r>
          </a:p>
        </p:txBody>
      </p:sp>
      <p:sp>
        <p:nvSpPr>
          <p:cNvPr id="29" name="">
            <a:extLst xmlns:a="http://schemas.openxmlformats.org/drawingml/2006/main">
              <a:ext uri="{FF2B5EF4-FFF2-40B4-BE49-F238E27FC236}">
                <a16:creationId xmlns:a16="http://schemas.microsoft.com/office/drawing/2014/main" id="{918AD74A-DBD2-47A4-8836-B71B0C8CDDDD}"/>
              </a:ext>
            </a:extLst>
          </p:cNvPr>
          <p:cNvSpPr>
            <a:spLocks xmlns:a="http://schemas.openxmlformats.org/drawingml/2006/main" noGrp="1"/>
          </p:cNvSpPr>
          <p:nvPr/>
        </p:nvSpPr>
        <p:spPr>
          <a:xfrm xmlns:a="http://schemas.openxmlformats.org/drawingml/2006/main">
            <a:off x="1143000" y="56292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53647A"/>
                </a:solidFill>
                <a:latin typeface="Arial"/>
                <a:ea typeface="Arial"/>
                <a:cs typeface="Arial"/>
              </a:defRPr>
            </a:pPr>
            <a:r>
              <a:rPr sz="1575" b="1">
                <a:solidFill>
                  <a:srgbClr val="53647A"/>
                </a:solidFill>
                <a:latin typeface="Arial"/>
                <a:ea typeface="Arial"/>
                <a:cs typeface="Arial"/>
              </a:rPr>
              <a:t>Current evidence: native-circle DXF export, seven automated tests, passing Windows check</a:t>
            </a:r>
          </a:p>
        </p:txBody>
      </p:sp>
    </p:spTree>
    <p:extLst>
      <p:ext uri="{BB962C8B-B14F-4D97-AF65-F5344CB8AC3E}">
        <p14:creationId xmlns:p14="http://schemas.microsoft.com/office/powerpoint/2010/main" val="928737167"/>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A6BA8A-AF74-4748-8748-9973C3C49FB2}"/>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Selected development platform</a:t>
            </a:r>
          </a:p>
        </p:txBody>
      </p:sp>
      <p:sp>
        <p:nvSpPr>
          <p:cNvPr id="2" name="">
            <a:extLst xmlns:a="http://schemas.openxmlformats.org/drawingml/2006/main">
              <a:ext uri="{FF2B5EF4-FFF2-40B4-BE49-F238E27FC236}">
                <a16:creationId xmlns:a16="http://schemas.microsoft.com/office/drawing/2014/main" id="{72B93EF7-423A-496E-AEC7-4E941D2F784E}"/>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7   Adcut Logo Vectorizer / Team E</a:t>
            </a:r>
          </a:p>
        </p:txBody>
      </p:sp>
      <p:sp>
        <p:nvSpPr>
          <p:cNvPr id="3" name="">
            <a:extLst xmlns:a="http://schemas.openxmlformats.org/drawingml/2006/main">
              <a:ext uri="{FF2B5EF4-FFF2-40B4-BE49-F238E27FC236}">
                <a16:creationId xmlns:a16="http://schemas.microsoft.com/office/drawing/2014/main" id="{545518B7-9B81-4C20-8CEC-DF83148A8BE3}"/>
              </a:ext>
            </a:extLst>
          </p:cNvPr>
          <p:cNvSpPr>
            <a:spLocks xmlns:a="http://schemas.openxmlformats.org/drawingml/2006/main" noGrp="1"/>
          </p:cNvSpPr>
          <p:nvPr/>
        </p:nvSpPr>
        <p:spPr>
          <a:xfrm xmlns:a="http://schemas.openxmlformats.org/drawingml/2006/main">
            <a:off x="609600"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13294B"/>
                </a:solidFill>
                <a:latin typeface="Arial"/>
                <a:ea typeface="Arial"/>
                <a:cs typeface="Arial"/>
              </a:defRPr>
            </a:pPr>
            <a:r>
              <a:rPr sz="2250" b="1">
                <a:solidFill>
                  <a:srgbClr val="13294B"/>
                </a:solidFill>
                <a:latin typeface="Arial"/>
                <a:ea typeface="Arial"/>
                <a:cs typeface="Arial"/>
              </a:rPr>
              <a:t>Windows local browser application</a:t>
            </a:r>
          </a:p>
        </p:txBody>
      </p:sp>
      <p:sp>
        <p:nvSpPr>
          <p:cNvPr id="4" name="">
            <a:extLst xmlns:a="http://schemas.openxmlformats.org/drawingml/2006/main">
              <a:ext uri="{FF2B5EF4-FFF2-40B4-BE49-F238E27FC236}">
                <a16:creationId xmlns:a16="http://schemas.microsoft.com/office/drawing/2014/main" id="{A104FCFF-EE77-4A73-81B4-0C822F4E9152}"/>
              </a:ext>
            </a:extLst>
          </p:cNvPr>
          <p:cNvSpPr>
            <a:spLocks xmlns:a="http://schemas.openxmlformats.org/drawingml/2006/main" noGrp="1"/>
          </p:cNvSpPr>
          <p:nvPr/>
        </p:nvSpPr>
        <p:spPr>
          <a:xfrm xmlns:a="http://schemas.openxmlformats.org/drawingml/2006/main">
            <a:off x="933450" y="21526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53647A"/>
                </a:solidFill>
                <a:latin typeface="Arial"/>
                <a:ea typeface="Arial"/>
                <a:cs typeface="Arial"/>
              </a:defRPr>
            </a:pPr>
            <a:r>
              <a:rPr sz="1575" b="1">
                <a:solidFill>
                  <a:srgbClr val="53647A"/>
                </a:solidFill>
                <a:latin typeface="Arial"/>
                <a:ea typeface="Arial"/>
                <a:cs typeface="Arial"/>
              </a:rPr>
              <a:t>User interface</a:t>
            </a:r>
          </a:p>
        </p:txBody>
      </p:sp>
      <p:sp>
        <p:nvSpPr>
          <p:cNvPr id="5" name="">
            <a:extLst xmlns:a="http://schemas.openxmlformats.org/drawingml/2006/main">
              <a:ext uri="{FF2B5EF4-FFF2-40B4-BE49-F238E27FC236}">
                <a16:creationId xmlns:a16="http://schemas.microsoft.com/office/drawing/2014/main" id="{BE4053CF-FBA0-41EA-9771-FCBA3DF64A3F}"/>
              </a:ext>
            </a:extLst>
          </p:cNvPr>
          <p:cNvSpPr>
            <a:spLocks xmlns:a="http://schemas.openxmlformats.org/drawingml/2006/main" noGrp="1"/>
          </p:cNvSpPr>
          <p:nvPr/>
        </p:nvSpPr>
        <p:spPr>
          <a:xfrm xmlns:a="http://schemas.openxmlformats.org/drawingml/2006/main">
            <a:off x="3257550" y="2000250"/>
            <a:ext cx="8001000" cy="628650"/>
          </a:xfrm>
          <a:prstGeom xmlns:a="http://schemas.openxmlformats.org/drawingml/2006/main" prst="roundRect">
            <a:avLst>
              <a:gd name="adj" fmla="val 9091"/>
            </a:avLst>
          </a:prstGeom>
          <a:solidFill xmlns:a="http://schemas.openxmlformats.org/drawingml/2006/main">
            <a:srgbClr val="1329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6E7C18-8483-41BB-8DEA-12E5D8C6D015}"/>
              </a:ext>
            </a:extLst>
          </p:cNvPr>
          <p:cNvSpPr>
            <a:spLocks xmlns:a="http://schemas.openxmlformats.org/drawingml/2006/main" noGrp="1"/>
          </p:cNvSpPr>
          <p:nvPr/>
        </p:nvSpPr>
        <p:spPr>
          <a:xfrm xmlns:a="http://schemas.openxmlformats.org/drawingml/2006/main">
            <a:off x="3543300" y="2143125"/>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Streamlit</a:t>
            </a:r>
          </a:p>
        </p:txBody>
      </p:sp>
      <p:sp>
        <p:nvSpPr>
          <p:cNvPr id="7" name="">
            <a:extLst xmlns:a="http://schemas.openxmlformats.org/drawingml/2006/main">
              <a:ext uri="{FF2B5EF4-FFF2-40B4-BE49-F238E27FC236}">
                <a16:creationId xmlns:a16="http://schemas.microsoft.com/office/drawing/2014/main" id="{249FD616-4B68-47D4-9772-3EB582DFC2F6}"/>
              </a:ext>
            </a:extLst>
          </p:cNvPr>
          <p:cNvSpPr>
            <a:spLocks xmlns:a="http://schemas.openxmlformats.org/drawingml/2006/main" noGrp="1"/>
          </p:cNvSpPr>
          <p:nvPr/>
        </p:nvSpPr>
        <p:spPr>
          <a:xfrm xmlns:a="http://schemas.openxmlformats.org/drawingml/2006/main">
            <a:off x="933450" y="29718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53647A"/>
                </a:solidFill>
                <a:latin typeface="Arial"/>
                <a:ea typeface="Arial"/>
                <a:cs typeface="Arial"/>
              </a:defRPr>
            </a:pPr>
            <a:r>
              <a:rPr sz="1575" b="1">
                <a:solidFill>
                  <a:srgbClr val="53647A"/>
                </a:solidFill>
                <a:latin typeface="Arial"/>
                <a:ea typeface="Arial"/>
                <a:cs typeface="Arial"/>
              </a:rPr>
              <a:t>Image processing</a:t>
            </a:r>
          </a:p>
        </p:txBody>
      </p:sp>
      <p:sp>
        <p:nvSpPr>
          <p:cNvPr id="8" name="">
            <a:extLst xmlns:a="http://schemas.openxmlformats.org/drawingml/2006/main">
              <a:ext uri="{FF2B5EF4-FFF2-40B4-BE49-F238E27FC236}">
                <a16:creationId xmlns:a16="http://schemas.microsoft.com/office/drawing/2014/main" id="{57B27919-033E-4587-8AAD-582BB231F1C1}"/>
              </a:ext>
            </a:extLst>
          </p:cNvPr>
          <p:cNvSpPr>
            <a:spLocks xmlns:a="http://schemas.openxmlformats.org/drawingml/2006/main" noGrp="1"/>
          </p:cNvSpPr>
          <p:nvPr/>
        </p:nvSpPr>
        <p:spPr>
          <a:xfrm xmlns:a="http://schemas.openxmlformats.org/drawingml/2006/main">
            <a:off x="3257550" y="2819400"/>
            <a:ext cx="8001000" cy="628650"/>
          </a:xfrm>
          <a:prstGeom xmlns:a="http://schemas.openxmlformats.org/drawingml/2006/main" prst="roundRect">
            <a:avLst>
              <a:gd name="adj" fmla="val 9091"/>
            </a:avLst>
          </a:prstGeom>
          <a:solidFill xmlns:a="http://schemas.openxmlformats.org/drawingml/2006/main">
            <a:srgbClr val="4B9C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32D3FD-83E2-45DD-AA9E-E1BAB272A461}"/>
              </a:ext>
            </a:extLst>
          </p:cNvPr>
          <p:cNvSpPr>
            <a:spLocks xmlns:a="http://schemas.openxmlformats.org/drawingml/2006/main" noGrp="1"/>
          </p:cNvSpPr>
          <p:nvPr/>
        </p:nvSpPr>
        <p:spPr>
          <a:xfrm xmlns:a="http://schemas.openxmlformats.org/drawingml/2006/main">
            <a:off x="3543300" y="2962275"/>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OpenCV  /  NumPy  /  Pillow  /  pypdfium2</a:t>
            </a:r>
          </a:p>
        </p:txBody>
      </p:sp>
      <p:sp>
        <p:nvSpPr>
          <p:cNvPr id="10" name="">
            <a:extLst xmlns:a="http://schemas.openxmlformats.org/drawingml/2006/main">
              <a:ext uri="{FF2B5EF4-FFF2-40B4-BE49-F238E27FC236}">
                <a16:creationId xmlns:a16="http://schemas.microsoft.com/office/drawing/2014/main" id="{D26B0546-1234-4797-9ECB-3036E0A89307}"/>
              </a:ext>
            </a:extLst>
          </p:cNvPr>
          <p:cNvSpPr>
            <a:spLocks xmlns:a="http://schemas.openxmlformats.org/drawingml/2006/main" noGrp="1"/>
          </p:cNvSpPr>
          <p:nvPr/>
        </p:nvSpPr>
        <p:spPr>
          <a:xfrm xmlns:a="http://schemas.openxmlformats.org/drawingml/2006/main">
            <a:off x="933450" y="37909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53647A"/>
                </a:solidFill>
                <a:latin typeface="Arial"/>
                <a:ea typeface="Arial"/>
                <a:cs typeface="Arial"/>
              </a:defRPr>
            </a:pPr>
            <a:r>
              <a:rPr sz="1575" b="1">
                <a:solidFill>
                  <a:srgbClr val="53647A"/>
                </a:solidFill>
                <a:latin typeface="Arial"/>
                <a:ea typeface="Arial"/>
                <a:cs typeface="Arial"/>
              </a:rPr>
              <a:t>CAD export</a:t>
            </a:r>
          </a:p>
        </p:txBody>
      </p:sp>
      <p:sp>
        <p:nvSpPr>
          <p:cNvPr id="11" name="">
            <a:extLst xmlns:a="http://schemas.openxmlformats.org/drawingml/2006/main">
              <a:ext uri="{FF2B5EF4-FFF2-40B4-BE49-F238E27FC236}">
                <a16:creationId xmlns:a16="http://schemas.microsoft.com/office/drawing/2014/main" id="{EBED0EF5-E448-4D3C-AF17-D10DD3965E19}"/>
              </a:ext>
            </a:extLst>
          </p:cNvPr>
          <p:cNvSpPr>
            <a:spLocks xmlns:a="http://schemas.openxmlformats.org/drawingml/2006/main" noGrp="1"/>
          </p:cNvSpPr>
          <p:nvPr/>
        </p:nvSpPr>
        <p:spPr>
          <a:xfrm xmlns:a="http://schemas.openxmlformats.org/drawingml/2006/main">
            <a:off x="3257550" y="3638550"/>
            <a:ext cx="8001000" cy="628650"/>
          </a:xfrm>
          <a:prstGeom xmlns:a="http://schemas.openxmlformats.org/drawingml/2006/main" prst="roundRect">
            <a:avLst>
              <a:gd name="adj" fmla="val 9091"/>
            </a:avLst>
          </a:prstGeom>
          <a:solidFill xmlns:a="http://schemas.openxmlformats.org/drawingml/2006/main">
            <a:srgbClr val="2C6F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CA406C-BA81-4675-B434-FDCDC499DC71}"/>
              </a:ext>
            </a:extLst>
          </p:cNvPr>
          <p:cNvSpPr>
            <a:spLocks xmlns:a="http://schemas.openxmlformats.org/drawingml/2006/main" noGrp="1"/>
          </p:cNvSpPr>
          <p:nvPr/>
        </p:nvSpPr>
        <p:spPr>
          <a:xfrm xmlns:a="http://schemas.openxmlformats.org/drawingml/2006/main">
            <a:off x="3543300" y="3781425"/>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ezdxf</a:t>
            </a:r>
          </a:p>
        </p:txBody>
      </p:sp>
      <p:sp>
        <p:nvSpPr>
          <p:cNvPr id="13" name="">
            <a:extLst xmlns:a="http://schemas.openxmlformats.org/drawingml/2006/main">
              <a:ext uri="{FF2B5EF4-FFF2-40B4-BE49-F238E27FC236}">
                <a16:creationId xmlns:a16="http://schemas.microsoft.com/office/drawing/2014/main" id="{497A9A9F-1386-4026-B7EC-AC2E577D743C}"/>
              </a:ext>
            </a:extLst>
          </p:cNvPr>
          <p:cNvSpPr>
            <a:spLocks xmlns:a="http://schemas.openxmlformats.org/drawingml/2006/main" noGrp="1"/>
          </p:cNvSpPr>
          <p:nvPr/>
        </p:nvSpPr>
        <p:spPr>
          <a:xfrm xmlns:a="http://schemas.openxmlformats.org/drawingml/2006/main">
            <a:off x="933450" y="46101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53647A"/>
                </a:solidFill>
                <a:latin typeface="Arial"/>
                <a:ea typeface="Arial"/>
                <a:cs typeface="Arial"/>
              </a:defRPr>
            </a:pPr>
            <a:r>
              <a:rPr sz="1575" b="1">
                <a:solidFill>
                  <a:srgbClr val="53647A"/>
                </a:solidFill>
                <a:latin typeface="Arial"/>
                <a:ea typeface="Arial"/>
                <a:cs typeface="Arial"/>
              </a:rPr>
              <a:t>Development checks</a:t>
            </a:r>
          </a:p>
        </p:txBody>
      </p:sp>
      <p:sp>
        <p:nvSpPr>
          <p:cNvPr id="14" name="">
            <a:extLst xmlns:a="http://schemas.openxmlformats.org/drawingml/2006/main">
              <a:ext uri="{FF2B5EF4-FFF2-40B4-BE49-F238E27FC236}">
                <a16:creationId xmlns:a16="http://schemas.microsoft.com/office/drawing/2014/main" id="{312D974F-B107-482F-95CB-D857717C973C}"/>
              </a:ext>
            </a:extLst>
          </p:cNvPr>
          <p:cNvSpPr>
            <a:spLocks xmlns:a="http://schemas.openxmlformats.org/drawingml/2006/main" noGrp="1"/>
          </p:cNvSpPr>
          <p:nvPr/>
        </p:nvSpPr>
        <p:spPr>
          <a:xfrm xmlns:a="http://schemas.openxmlformats.org/drawingml/2006/main">
            <a:off x="3257550" y="4457700"/>
            <a:ext cx="8001000" cy="628650"/>
          </a:xfrm>
          <a:prstGeom xmlns:a="http://schemas.openxmlformats.org/drawingml/2006/main" prst="roundRect">
            <a:avLst>
              <a:gd name="adj" fmla="val 9091"/>
            </a:avLst>
          </a:prstGeom>
          <a:solidFill xmlns:a="http://schemas.openxmlformats.org/drawingml/2006/main">
            <a:srgbClr val="D8EC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3BA5B1A-AC00-4F0D-9B8B-30AE359460E8}"/>
              </a:ext>
            </a:extLst>
          </p:cNvPr>
          <p:cNvSpPr>
            <a:spLocks xmlns:a="http://schemas.openxmlformats.org/drawingml/2006/main" noGrp="1"/>
          </p:cNvSpPr>
          <p:nvPr/>
        </p:nvSpPr>
        <p:spPr>
          <a:xfrm xmlns:a="http://schemas.openxmlformats.org/drawingml/2006/main">
            <a:off x="3543300" y="4600575"/>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3294B"/>
                </a:solidFill>
                <a:latin typeface="Arial"/>
                <a:ea typeface="Arial"/>
                <a:cs typeface="Arial"/>
              </a:defRPr>
            </a:pPr>
            <a:r>
              <a:rPr sz="1800" b="1">
                <a:solidFill>
                  <a:srgbClr val="13294B"/>
                </a:solidFill>
                <a:latin typeface="Arial"/>
                <a:ea typeface="Arial"/>
                <a:cs typeface="Arial"/>
              </a:rPr>
              <a:t>VS Code  /  GitHub  /  pytest  /  Ruff  /  pre-commit</a:t>
            </a:r>
          </a:p>
        </p:txBody>
      </p:sp>
      <p:sp>
        <p:nvSpPr>
          <p:cNvPr id="16" name="">
            <a:extLst xmlns:a="http://schemas.openxmlformats.org/drawingml/2006/main">
              <a:ext uri="{FF2B5EF4-FFF2-40B4-BE49-F238E27FC236}">
                <a16:creationId xmlns:a16="http://schemas.microsoft.com/office/drawing/2014/main" id="{E13C8DF3-EC2C-4231-BCDE-B738EEEDF1F4}"/>
              </a:ext>
            </a:extLst>
          </p:cNvPr>
          <p:cNvSpPr>
            <a:spLocks xmlns:a="http://schemas.openxmlformats.org/drawingml/2006/main" noGrp="1"/>
          </p:cNvSpPr>
          <p:nvPr/>
        </p:nvSpPr>
        <p:spPr>
          <a:xfrm xmlns:a="http://schemas.openxmlformats.org/drawingml/2006/main">
            <a:off x="1000125" y="569595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0">
                <a:solidFill>
                  <a:srgbClr val="53647A"/>
                </a:solidFill>
                <a:latin typeface="Arial"/>
                <a:ea typeface="Arial"/>
                <a:cs typeface="Arial"/>
              </a:defRPr>
            </a:pPr>
            <a:r>
              <a:rPr sz="1575" b="0">
                <a:solidFill>
                  <a:srgbClr val="53647A"/>
                </a:solidFill>
                <a:latin typeface="Arial"/>
                <a:ea typeface="Arial"/>
                <a:cs typeface="Arial"/>
              </a:rPr>
              <a:t>DXF first. Cloud remains possible. Native DWG requires a separate feasibility review.</a:t>
            </a:r>
          </a:p>
        </p:txBody>
      </p:sp>
    </p:spTree>
    <p:extLst>
      <p:ext uri="{BB962C8B-B14F-4D97-AF65-F5344CB8AC3E}">
        <p14:creationId xmlns:p14="http://schemas.microsoft.com/office/powerpoint/2010/main" val="1608506247"/>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7D933CB-42CE-4387-85A1-2BBCE59B43E0}"/>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3294B"/>
                </a:solidFill>
                <a:latin typeface="Arial"/>
                <a:ea typeface="Arial"/>
                <a:cs typeface="Arial"/>
              </a:defRPr>
            </a:pPr>
            <a:r>
              <a:rPr sz="3225" b="1">
                <a:solidFill>
                  <a:srgbClr val="13294B"/>
                </a:solidFill>
                <a:latin typeface="Arial"/>
                <a:ea typeface="Arial"/>
                <a:cs typeface="Arial"/>
              </a:rPr>
              <a:t>Current evidence and next validation</a:t>
            </a:r>
          </a:p>
        </p:txBody>
      </p:sp>
      <p:sp>
        <p:nvSpPr>
          <p:cNvPr id="2" name="">
            <a:extLst xmlns:a="http://schemas.openxmlformats.org/drawingml/2006/main">
              <a:ext uri="{FF2B5EF4-FFF2-40B4-BE49-F238E27FC236}">
                <a16:creationId xmlns:a16="http://schemas.microsoft.com/office/drawing/2014/main" id="{D45AF5DF-8D7D-48FE-83A3-AF1A77DA4591}"/>
              </a:ext>
            </a:extLst>
          </p:cNvPr>
          <p:cNvSpPr>
            <a:spLocks xmlns:a="http://schemas.openxmlformats.org/drawingml/2006/main" noGrp="1"/>
          </p:cNvSpPr>
          <p:nvPr/>
        </p:nvSpPr>
        <p:spPr>
          <a:xfrm xmlns:a="http://schemas.openxmlformats.org/drawingml/2006/main">
            <a:off x="609600" y="64198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3647A"/>
                </a:solidFill>
                <a:latin typeface="Arial"/>
                <a:ea typeface="Arial"/>
                <a:cs typeface="Arial"/>
              </a:defRPr>
            </a:pPr>
            <a:r>
              <a:rPr sz="1275" b="0">
                <a:solidFill>
                  <a:srgbClr val="53647A"/>
                </a:solidFill>
                <a:latin typeface="Arial"/>
                <a:ea typeface="Arial"/>
                <a:cs typeface="Arial"/>
              </a:rPr>
              <a:t>8   Adcut Logo Vectorizer / Team E</a:t>
            </a:r>
          </a:p>
        </p:txBody>
      </p:sp>
      <p:sp>
        <p:nvSpPr>
          <p:cNvPr id="3" name="">
            <a:extLst xmlns:a="http://schemas.openxmlformats.org/drawingml/2006/main">
              <a:ext uri="{FF2B5EF4-FFF2-40B4-BE49-F238E27FC236}">
                <a16:creationId xmlns:a16="http://schemas.microsoft.com/office/drawing/2014/main" id="{906D8FA0-7FD3-480E-98F0-8AC276CFB492}"/>
              </a:ext>
            </a:extLst>
          </p:cNvPr>
          <p:cNvSpPr>
            <a:spLocks xmlns:a="http://schemas.openxmlformats.org/drawingml/2006/main" noGrp="1"/>
          </p:cNvSpPr>
          <p:nvPr/>
        </p:nvSpPr>
        <p:spPr>
          <a:xfrm xmlns:a="http://schemas.openxmlformats.org/drawingml/2006/main">
            <a:off x="609600" y="12858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3294B"/>
                </a:solidFill>
                <a:latin typeface="Arial"/>
                <a:ea typeface="Arial"/>
                <a:cs typeface="Arial"/>
              </a:defRPr>
            </a:pPr>
            <a:r>
              <a:rPr sz="2025" b="1">
                <a:solidFill>
                  <a:srgbClr val="13294B"/>
                </a:solidFill>
                <a:latin typeface="Arial"/>
                <a:ea typeface="Arial"/>
                <a:cs typeface="Arial"/>
              </a:rPr>
              <a:t>Completed for midterm</a:t>
            </a:r>
          </a:p>
        </p:txBody>
      </p:sp>
      <p:sp>
        <p:nvSpPr>
          <p:cNvPr id="4" name="">
            <a:extLst xmlns:a="http://schemas.openxmlformats.org/drawingml/2006/main">
              <a:ext uri="{FF2B5EF4-FFF2-40B4-BE49-F238E27FC236}">
                <a16:creationId xmlns:a16="http://schemas.microsoft.com/office/drawing/2014/main" id="{83841CA8-C168-4429-B3EE-FCB8B515FA71}"/>
              </a:ext>
            </a:extLst>
          </p:cNvPr>
          <p:cNvSpPr>
            <a:spLocks xmlns:a="http://schemas.openxmlformats.org/drawingml/2006/main" noGrp="1"/>
          </p:cNvSpPr>
          <p:nvPr/>
        </p:nvSpPr>
        <p:spPr>
          <a:xfrm xmlns:a="http://schemas.openxmlformats.org/drawingml/2006/main">
            <a:off x="685800" y="195262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3C8A3C"/>
                </a:solidFill>
                <a:latin typeface="Arial"/>
                <a:ea typeface="Arial"/>
                <a:cs typeface="Arial"/>
              </a:defRPr>
            </a:pPr>
            <a:r>
              <a:rPr sz="2025" b="1">
                <a:solidFill>
                  <a:srgbClr val="3C8A3C"/>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EA2887DB-D4B6-4FF9-9746-65EFF14CE338}"/>
              </a:ext>
            </a:extLst>
          </p:cNvPr>
          <p:cNvSpPr>
            <a:spLocks xmlns:a="http://schemas.openxmlformats.org/drawingml/2006/main" noGrp="1"/>
          </p:cNvSpPr>
          <p:nvPr/>
        </p:nvSpPr>
        <p:spPr>
          <a:xfrm xmlns:a="http://schemas.openxmlformats.org/drawingml/2006/main">
            <a:off x="1162050" y="19431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Specifications and user workflow</a:t>
            </a:r>
          </a:p>
        </p:txBody>
      </p:sp>
      <p:sp>
        <p:nvSpPr>
          <p:cNvPr id="6" name="">
            <a:extLst xmlns:a="http://schemas.openxmlformats.org/drawingml/2006/main">
              <a:ext uri="{FF2B5EF4-FFF2-40B4-BE49-F238E27FC236}">
                <a16:creationId xmlns:a16="http://schemas.microsoft.com/office/drawing/2014/main" id="{CFC80381-F155-437B-B235-383998B9CCBE}"/>
              </a:ext>
            </a:extLst>
          </p:cNvPr>
          <p:cNvSpPr>
            <a:spLocks xmlns:a="http://schemas.openxmlformats.org/drawingml/2006/main" noGrp="1"/>
          </p:cNvSpPr>
          <p:nvPr/>
        </p:nvSpPr>
        <p:spPr>
          <a:xfrm xmlns:a="http://schemas.openxmlformats.org/drawingml/2006/main">
            <a:off x="685800" y="265747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3C8A3C"/>
                </a:solidFill>
                <a:latin typeface="Arial"/>
                <a:ea typeface="Arial"/>
                <a:cs typeface="Arial"/>
              </a:defRPr>
            </a:pPr>
            <a:r>
              <a:rPr sz="2025" b="1">
                <a:solidFill>
                  <a:srgbClr val="3C8A3C"/>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DC533F4F-E113-4BED-9668-2E4812AD7951}"/>
              </a:ext>
            </a:extLst>
          </p:cNvPr>
          <p:cNvSpPr>
            <a:spLocks xmlns:a="http://schemas.openxmlformats.org/drawingml/2006/main" noGrp="1"/>
          </p:cNvSpPr>
          <p:nvPr/>
        </p:nvSpPr>
        <p:spPr>
          <a:xfrm xmlns:a="http://schemas.openxmlformats.org/drawingml/2006/main">
            <a:off x="1162050" y="26479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Interface, metaphor, and architecture</a:t>
            </a:r>
          </a:p>
        </p:txBody>
      </p:sp>
      <p:sp>
        <p:nvSpPr>
          <p:cNvPr id="8" name="">
            <a:extLst xmlns:a="http://schemas.openxmlformats.org/drawingml/2006/main">
              <a:ext uri="{FF2B5EF4-FFF2-40B4-BE49-F238E27FC236}">
                <a16:creationId xmlns:a16="http://schemas.microsoft.com/office/drawing/2014/main" id="{8A7D5370-86D3-4BA6-A581-59236EE28710}"/>
              </a:ext>
            </a:extLst>
          </p:cNvPr>
          <p:cNvSpPr>
            <a:spLocks xmlns:a="http://schemas.openxmlformats.org/drawingml/2006/main" noGrp="1"/>
          </p:cNvSpPr>
          <p:nvPr/>
        </p:nvSpPr>
        <p:spPr>
          <a:xfrm xmlns:a="http://schemas.openxmlformats.org/drawingml/2006/main">
            <a:off x="685800" y="336232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3C8A3C"/>
                </a:solidFill>
                <a:latin typeface="Arial"/>
                <a:ea typeface="Arial"/>
                <a:cs typeface="Arial"/>
              </a:defRPr>
            </a:pPr>
            <a:r>
              <a:rPr sz="2025" b="1">
                <a:solidFill>
                  <a:srgbClr val="3C8A3C"/>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3E279703-A080-4783-B10C-6C913F273116}"/>
              </a:ext>
            </a:extLst>
          </p:cNvPr>
          <p:cNvSpPr>
            <a:spLocks xmlns:a="http://schemas.openxmlformats.org/drawingml/2006/main" noGrp="1"/>
          </p:cNvSpPr>
          <p:nvPr/>
        </p:nvSpPr>
        <p:spPr>
          <a:xfrm xmlns:a="http://schemas.openxmlformats.org/drawingml/2006/main">
            <a:off x="1162050" y="33528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Platform and technical design</a:t>
            </a:r>
          </a:p>
        </p:txBody>
      </p:sp>
      <p:sp>
        <p:nvSpPr>
          <p:cNvPr id="10" name="">
            <a:extLst xmlns:a="http://schemas.openxmlformats.org/drawingml/2006/main">
              <a:ext uri="{FF2B5EF4-FFF2-40B4-BE49-F238E27FC236}">
                <a16:creationId xmlns:a16="http://schemas.microsoft.com/office/drawing/2014/main" id="{ADCA7C0C-6782-47ED-AF0D-9B7F644A9156}"/>
              </a:ext>
            </a:extLst>
          </p:cNvPr>
          <p:cNvSpPr>
            <a:spLocks xmlns:a="http://schemas.openxmlformats.org/drawingml/2006/main" noGrp="1"/>
          </p:cNvSpPr>
          <p:nvPr/>
        </p:nvSpPr>
        <p:spPr>
          <a:xfrm xmlns:a="http://schemas.openxmlformats.org/drawingml/2006/main">
            <a:off x="685800" y="406717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3C8A3C"/>
                </a:solidFill>
                <a:latin typeface="Arial"/>
                <a:ea typeface="Arial"/>
                <a:cs typeface="Arial"/>
              </a:defRPr>
            </a:pPr>
            <a:r>
              <a:rPr sz="2025" b="1">
                <a:solidFill>
                  <a:srgbClr val="3C8A3C"/>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18485B49-9809-4A7F-BFF8-3EAB49B904EC}"/>
              </a:ext>
            </a:extLst>
          </p:cNvPr>
          <p:cNvSpPr>
            <a:spLocks xmlns:a="http://schemas.openxmlformats.org/drawingml/2006/main" noGrp="1"/>
          </p:cNvSpPr>
          <p:nvPr/>
        </p:nvSpPr>
        <p:spPr>
          <a:xfrm xmlns:a="http://schemas.openxmlformats.org/drawingml/2006/main">
            <a:off x="1162050" y="40576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DXF circle export: 7 tests pass</a:t>
            </a:r>
          </a:p>
        </p:txBody>
      </p:sp>
      <p:sp>
        <p:nvSpPr>
          <p:cNvPr id="12" name="">
            <a:extLst xmlns:a="http://schemas.openxmlformats.org/drawingml/2006/main">
              <a:ext uri="{FF2B5EF4-FFF2-40B4-BE49-F238E27FC236}">
                <a16:creationId xmlns:a16="http://schemas.microsoft.com/office/drawing/2014/main" id="{137A72A0-62F3-49D0-8B87-5CC66E849AF0}"/>
              </a:ext>
            </a:extLst>
          </p:cNvPr>
          <p:cNvSpPr>
            <a:spLocks xmlns:a="http://schemas.openxmlformats.org/drawingml/2006/main" noGrp="1"/>
          </p:cNvSpPr>
          <p:nvPr/>
        </p:nvSpPr>
        <p:spPr>
          <a:xfrm xmlns:a="http://schemas.openxmlformats.org/drawingml/2006/main">
            <a:off x="6019800" y="1219200"/>
            <a:ext cx="19050" cy="4048125"/>
          </a:xfrm>
          <a:prstGeom xmlns:a="http://schemas.openxmlformats.org/drawingml/2006/main" prst="rect">
            <a:avLst/>
          </a:prstGeom>
          <a:solidFill xmlns:a="http://schemas.openxmlformats.org/drawingml/2006/main">
            <a:srgbClr val="4B9C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ADC17AD-939F-49BF-B606-4C954BC10129}"/>
              </a:ext>
            </a:extLst>
          </p:cNvPr>
          <p:cNvSpPr>
            <a:spLocks xmlns:a="http://schemas.openxmlformats.org/drawingml/2006/main" noGrp="1"/>
          </p:cNvSpPr>
          <p:nvPr/>
        </p:nvSpPr>
        <p:spPr>
          <a:xfrm xmlns:a="http://schemas.openxmlformats.org/drawingml/2006/main">
            <a:off x="6553200" y="12858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3294B"/>
                </a:solidFill>
                <a:latin typeface="Arial"/>
                <a:ea typeface="Arial"/>
                <a:cs typeface="Arial"/>
              </a:defRPr>
            </a:pPr>
            <a:r>
              <a:rPr sz="2025" b="1">
                <a:solidFill>
                  <a:srgbClr val="13294B"/>
                </a:solidFill>
                <a:latin typeface="Arial"/>
                <a:ea typeface="Arial"/>
                <a:cs typeface="Arial"/>
              </a:rPr>
              <a:t>Next validation</a:t>
            </a:r>
          </a:p>
        </p:txBody>
      </p:sp>
      <p:sp>
        <p:nvSpPr>
          <p:cNvPr id="14" name="">
            <a:extLst xmlns:a="http://schemas.openxmlformats.org/drawingml/2006/main">
              <a:ext uri="{FF2B5EF4-FFF2-40B4-BE49-F238E27FC236}">
                <a16:creationId xmlns:a16="http://schemas.microsoft.com/office/drawing/2014/main" id="{6575D419-2DA9-4C22-A649-5640F1A550DC}"/>
              </a:ext>
            </a:extLst>
          </p:cNvPr>
          <p:cNvSpPr>
            <a:spLocks xmlns:a="http://schemas.openxmlformats.org/drawingml/2006/main" noGrp="1"/>
          </p:cNvSpPr>
          <p:nvPr/>
        </p:nvSpPr>
        <p:spPr>
          <a:xfrm xmlns:a="http://schemas.openxmlformats.org/drawingml/2006/main">
            <a:off x="6591300" y="195262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4B9CD3"/>
                </a:solidFill>
                <a:latin typeface="Arial"/>
                <a:ea typeface="Arial"/>
                <a:cs typeface="Arial"/>
              </a:defRPr>
            </a:pPr>
            <a:r>
              <a:rPr sz="1800" b="1">
                <a:solidFill>
                  <a:srgbClr val="4B9CD3"/>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E751D9BC-86F1-4306-9E0F-EC2063A560B4}"/>
              </a:ext>
            </a:extLst>
          </p:cNvPr>
          <p:cNvSpPr>
            <a:spLocks xmlns:a="http://schemas.openxmlformats.org/drawingml/2006/main" noGrp="1"/>
          </p:cNvSpPr>
          <p:nvPr/>
        </p:nvSpPr>
        <p:spPr>
          <a:xfrm xmlns:a="http://schemas.openxmlformats.org/drawingml/2006/main">
            <a:off x="7086600" y="19431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Image-to-DXF processing</a:t>
            </a:r>
          </a:p>
        </p:txBody>
      </p:sp>
      <p:sp>
        <p:nvSpPr>
          <p:cNvPr id="16" name="">
            <a:extLst xmlns:a="http://schemas.openxmlformats.org/drawingml/2006/main">
              <a:ext uri="{FF2B5EF4-FFF2-40B4-BE49-F238E27FC236}">
                <a16:creationId xmlns:a16="http://schemas.microsoft.com/office/drawing/2014/main" id="{8AF60F13-838C-4EB7-81DF-0276DDD51335}"/>
              </a:ext>
            </a:extLst>
          </p:cNvPr>
          <p:cNvSpPr>
            <a:spLocks xmlns:a="http://schemas.openxmlformats.org/drawingml/2006/main" noGrp="1"/>
          </p:cNvSpPr>
          <p:nvPr/>
        </p:nvSpPr>
        <p:spPr>
          <a:xfrm xmlns:a="http://schemas.openxmlformats.org/drawingml/2006/main">
            <a:off x="6591300" y="265747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4B9CD3"/>
                </a:solidFill>
                <a:latin typeface="Arial"/>
                <a:ea typeface="Arial"/>
                <a:cs typeface="Arial"/>
              </a:defRPr>
            </a:pPr>
            <a:r>
              <a:rPr sz="1800" b="1">
                <a:solidFill>
                  <a:srgbClr val="4B9CD3"/>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7D387C6D-EBBC-42A8-886D-4C78F7C5EB33}"/>
              </a:ext>
            </a:extLst>
          </p:cNvPr>
          <p:cNvSpPr>
            <a:spLocks xmlns:a="http://schemas.openxmlformats.org/drawingml/2006/main" noGrp="1"/>
          </p:cNvSpPr>
          <p:nvPr/>
        </p:nvSpPr>
        <p:spPr>
          <a:xfrm xmlns:a="http://schemas.openxmlformats.org/drawingml/2006/main">
            <a:off x="7086600" y="26479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Shared boundaries and curve fitting</a:t>
            </a:r>
          </a:p>
        </p:txBody>
      </p:sp>
      <p:sp>
        <p:nvSpPr>
          <p:cNvPr id="18" name="">
            <a:extLst xmlns:a="http://schemas.openxmlformats.org/drawingml/2006/main">
              <a:ext uri="{FF2B5EF4-FFF2-40B4-BE49-F238E27FC236}">
                <a16:creationId xmlns:a16="http://schemas.microsoft.com/office/drawing/2014/main" id="{D9A18082-6E76-4948-820B-B23BEF04F53A}"/>
              </a:ext>
            </a:extLst>
          </p:cNvPr>
          <p:cNvSpPr>
            <a:spLocks xmlns:a="http://schemas.openxmlformats.org/drawingml/2006/main" noGrp="1"/>
          </p:cNvSpPr>
          <p:nvPr/>
        </p:nvSpPr>
        <p:spPr>
          <a:xfrm xmlns:a="http://schemas.openxmlformats.org/drawingml/2006/main">
            <a:off x="6591300" y="336232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4B9CD3"/>
                </a:solidFill>
                <a:latin typeface="Arial"/>
                <a:ea typeface="Arial"/>
                <a:cs typeface="Arial"/>
              </a:defRPr>
            </a:pPr>
            <a:r>
              <a:rPr sz="1800" b="1">
                <a:solidFill>
                  <a:srgbClr val="4B9CD3"/>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CD7077AD-8251-410F-AF92-2C79A3FF61CB}"/>
              </a:ext>
            </a:extLst>
          </p:cNvPr>
          <p:cNvSpPr>
            <a:spLocks xmlns:a="http://schemas.openxmlformats.org/drawingml/2006/main" noGrp="1"/>
          </p:cNvSpPr>
          <p:nvPr/>
        </p:nvSpPr>
        <p:spPr>
          <a:xfrm xmlns:a="http://schemas.openxmlformats.org/drawingml/2006/main">
            <a:off x="7086600" y="33528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Client samples and CAD conventions</a:t>
            </a:r>
          </a:p>
        </p:txBody>
      </p:sp>
      <p:sp>
        <p:nvSpPr>
          <p:cNvPr id="20" name="">
            <a:extLst xmlns:a="http://schemas.openxmlformats.org/drawingml/2006/main">
              <a:ext uri="{FF2B5EF4-FFF2-40B4-BE49-F238E27FC236}">
                <a16:creationId xmlns:a16="http://schemas.microsoft.com/office/drawing/2014/main" id="{DDF0E6BC-94BD-4468-9C07-067627CEF7F9}"/>
              </a:ext>
            </a:extLst>
          </p:cNvPr>
          <p:cNvSpPr>
            <a:spLocks xmlns:a="http://schemas.openxmlformats.org/drawingml/2006/main" noGrp="1"/>
          </p:cNvSpPr>
          <p:nvPr/>
        </p:nvSpPr>
        <p:spPr>
          <a:xfrm xmlns:a="http://schemas.openxmlformats.org/drawingml/2006/main">
            <a:off x="6591300" y="4067175"/>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4B9CD3"/>
                </a:solidFill>
                <a:latin typeface="Arial"/>
                <a:ea typeface="Arial"/>
                <a:cs typeface="Arial"/>
              </a:defRPr>
            </a:pPr>
            <a:r>
              <a:rPr sz="1800" b="1">
                <a:solidFill>
                  <a:srgbClr val="4B9CD3"/>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E406A3AE-118B-4564-A65F-CB01D7437F7F}"/>
              </a:ext>
            </a:extLst>
          </p:cNvPr>
          <p:cNvSpPr>
            <a:spLocks xmlns:a="http://schemas.openxmlformats.org/drawingml/2006/main" noGrp="1"/>
          </p:cNvSpPr>
          <p:nvPr/>
        </p:nvSpPr>
        <p:spPr>
          <a:xfrm xmlns:a="http://schemas.openxmlformats.org/drawingml/2006/main">
            <a:off x="7086600" y="40576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033"/>
                </a:solidFill>
                <a:latin typeface="Arial"/>
                <a:ea typeface="Arial"/>
                <a:cs typeface="Arial"/>
              </a:defRPr>
            </a:pPr>
            <a:r>
              <a:rPr sz="1725" b="0">
                <a:solidFill>
                  <a:srgbClr val="172033"/>
                </a:solidFill>
                <a:latin typeface="Arial"/>
                <a:ea typeface="Arial"/>
                <a:cs typeface="Arial"/>
              </a:rPr>
              <a:t>AutoCAD / IGEMS acceptance</a:t>
            </a:r>
          </a:p>
        </p:txBody>
      </p:sp>
      <p:sp>
        <p:nvSpPr>
          <p:cNvPr id="22" name="">
            <a:extLst xmlns:a="http://schemas.openxmlformats.org/drawingml/2006/main">
              <a:ext uri="{FF2B5EF4-FFF2-40B4-BE49-F238E27FC236}">
                <a16:creationId xmlns:a16="http://schemas.microsoft.com/office/drawing/2014/main" id="{4B61F852-3559-48E3-82B0-793432F2B805}"/>
              </a:ext>
            </a:extLst>
          </p:cNvPr>
          <p:cNvSpPr>
            <a:spLocks xmlns:a="http://schemas.openxmlformats.org/drawingml/2006/main" noGrp="1"/>
          </p:cNvSpPr>
          <p:nvPr/>
        </p:nvSpPr>
        <p:spPr>
          <a:xfrm xmlns:a="http://schemas.openxmlformats.org/drawingml/2006/main">
            <a:off x="609600" y="5562600"/>
            <a:ext cx="10972800" cy="571500"/>
          </a:xfrm>
          <a:prstGeom xmlns:a="http://schemas.openxmlformats.org/drawingml/2006/main" prst="roundRect">
            <a:avLst>
              <a:gd name="adj" fmla="val 10000"/>
            </a:avLst>
          </a:prstGeom>
          <a:solidFill xmlns:a="http://schemas.openxmlformats.org/drawingml/2006/main">
            <a:srgbClr val="1329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1DB7F5A-968F-4118-AB15-D23934FC6A6B}"/>
              </a:ext>
            </a:extLst>
          </p:cNvPr>
          <p:cNvSpPr>
            <a:spLocks xmlns:a="http://schemas.openxmlformats.org/drawingml/2006/main" noGrp="1"/>
          </p:cNvSpPr>
          <p:nvPr/>
        </p:nvSpPr>
        <p:spPr>
          <a:xfrm xmlns:a="http://schemas.openxmlformats.org/drawingml/2006/main">
            <a:off x="914400" y="569595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Acceptance target: a DXF that works in Adcut's existing workflow</a:t>
            </a:r>
          </a:p>
        </p:txBody>
      </p:sp>
    </p:spTree>
    <p:extLst>
      <p:ext uri="{BB962C8B-B14F-4D97-AF65-F5344CB8AC3E}">
        <p14:creationId xmlns:p14="http://schemas.microsoft.com/office/powerpoint/2010/main" val="11402199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2026-10-05T01:54:23.1480000Z</dcterms:created>
  <dcterms:modified xsi:type="dcterms:W3CDTF">2026-10-05T01:54:23.1490000Z</dcterms:modified>
</coreProperties>
</file>