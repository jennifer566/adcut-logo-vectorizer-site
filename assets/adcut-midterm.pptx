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1010c1b721a4303" /><Relationship Type="http://schemas.openxmlformats.org/officeDocument/2006/relationships/extended-properties" Target="/docProps/app.xml" Id="R27e48554f6ad4d84" /><Relationship Type="http://schemas.openxmlformats.org/officeDocument/2006/relationships/officeDocument" Target="/ppt/presentation.xml" Id="R7c26b1cb38624e04" /></Relationships>
</file>

<file path=ppt/presentation.xml><?xml version="1.0" encoding="utf-8"?>
<p:presentation xmlns:p="http://schemas.openxmlformats.org/presentationml/2006/main">
  <p:sldMasterIdLst>
    <p:sldMasterId xmlns:r="http://schemas.openxmlformats.org/officeDocument/2006/relationships" id="2147483648" r:id="R55029318ff274310"/>
  </p:sldMasterIdLst>
  <p:notesMasterIdLst>
    <p:notesMasterId xmlns:r="http://schemas.openxmlformats.org/officeDocument/2006/relationships" r:id="R9c08edddc7b2496e"/>
  </p:notesMasterIdLst>
  <p:sldIdLst>
    <p:sldId xmlns:r="http://schemas.openxmlformats.org/officeDocument/2006/relationships" id="256" r:id="Rc3293141b33c42a9"/>
    <p:sldId xmlns:r="http://schemas.openxmlformats.org/officeDocument/2006/relationships" id="257" r:id="Rf1abeba8d2d94b15"/>
    <p:sldId xmlns:r="http://schemas.openxmlformats.org/officeDocument/2006/relationships" id="258" r:id="R484506b2137c452a"/>
    <p:sldId xmlns:r="http://schemas.openxmlformats.org/officeDocument/2006/relationships" id="259" r:id="R3235d1bc22564d1c"/>
    <p:sldId xmlns:r="http://schemas.openxmlformats.org/officeDocument/2006/relationships" id="260" r:id="R561c6216892f47e0"/>
    <p:sldId xmlns:r="http://schemas.openxmlformats.org/officeDocument/2006/relationships" id="261" r:id="R5c8b4c5529924ce2"/>
    <p:sldId xmlns:r="http://schemas.openxmlformats.org/officeDocument/2006/relationships" id="262" r:id="R5087b45e22d8477d"/>
    <p:sldId xmlns:r="http://schemas.openxmlformats.org/officeDocument/2006/relationships" id="263" r:id="R790827f4d477409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5661a18e57f4cf7" /><Relationship Type="http://schemas.openxmlformats.org/officeDocument/2006/relationships/slideMaster" Target="/ppt/slideMasters/slideMaster1.xml" Id="R55029318ff274310" /><Relationship Type="http://schemas.openxmlformats.org/officeDocument/2006/relationships/notesMaster" Target="/ppt/notesMasters/notesMaster1.xml" Id="R9c08edddc7b2496e" /><Relationship Type="http://schemas.openxmlformats.org/officeDocument/2006/relationships/presProps" Target="/ppt/presProps.xml" Id="R7b7e6725935d4b64" /><Relationship Type="http://schemas.openxmlformats.org/officeDocument/2006/relationships/tableStyles" Target="/ppt/tableStyles.xml" Id="R642a60129ab54abc" /><Relationship Type="http://schemas.openxmlformats.org/officeDocument/2006/relationships/slide" Target="/ppt/slides/slide1.xml" Id="Rc3293141b33c42a9" /><Relationship Type="http://schemas.openxmlformats.org/officeDocument/2006/relationships/slide" Target="/ppt/slides/slide2.xml" Id="Rf1abeba8d2d94b15" /><Relationship Type="http://schemas.openxmlformats.org/officeDocument/2006/relationships/slide" Target="/ppt/slides/slide3.xml" Id="R484506b2137c452a" /><Relationship Type="http://schemas.openxmlformats.org/officeDocument/2006/relationships/slide" Target="/ppt/slides/slide4.xml" Id="R3235d1bc22564d1c" /><Relationship Type="http://schemas.openxmlformats.org/officeDocument/2006/relationships/slide" Target="/ppt/slides/slide5.xml" Id="R561c6216892f47e0" /><Relationship Type="http://schemas.openxmlformats.org/officeDocument/2006/relationships/slide" Target="/ppt/slides/slide6.xml" Id="R5c8b4c5529924ce2" /><Relationship Type="http://schemas.openxmlformats.org/officeDocument/2006/relationships/slide" Target="/ppt/slides/slide7.xml" Id="R5087b45e22d8477d" /><Relationship Type="http://schemas.openxmlformats.org/officeDocument/2006/relationships/slide" Target="/ppt/slides/slide8.xml" Id="R790827f4d477409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f3a4eab4ddd481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31a503ec8f5488b" /><Relationship Type="http://schemas.openxmlformats.org/officeDocument/2006/relationships/notesMaster" Target="/ppt/notesMasters/notesMaster1.xml" Id="Rbcc92da8989c4b28" /></Relationships>
</file>

<file path=ppt/notesSlides/_rels/notesSlide2.xml.rels>&#65279;<?xml version="1.0" encoding="utf-8"?><Relationships xmlns="http://schemas.openxmlformats.org/package/2006/relationships"><Relationship Type="http://schemas.openxmlformats.org/officeDocument/2006/relationships/slide" Target="/ppt/slides/slide2.xml" Id="R1d1cfef1892040a9" /><Relationship Type="http://schemas.openxmlformats.org/officeDocument/2006/relationships/notesMaster" Target="/ppt/notesMasters/notesMaster1.xml" Id="R2e5fedb23daa40f2" /></Relationships>
</file>

<file path=ppt/notesSlides/_rels/notesSlide3.xml.rels>&#65279;<?xml version="1.0" encoding="utf-8"?><Relationships xmlns="http://schemas.openxmlformats.org/package/2006/relationships"><Relationship Type="http://schemas.openxmlformats.org/officeDocument/2006/relationships/slide" Target="/ppt/slides/slide3.xml" Id="R7af1ddb4062545cb" /><Relationship Type="http://schemas.openxmlformats.org/officeDocument/2006/relationships/notesMaster" Target="/ppt/notesMasters/notesMaster1.xml" Id="R6a36443d6b2a485b" /></Relationships>
</file>

<file path=ppt/notesSlides/_rels/notesSlide4.xml.rels>&#65279;<?xml version="1.0" encoding="utf-8"?><Relationships xmlns="http://schemas.openxmlformats.org/package/2006/relationships"><Relationship Type="http://schemas.openxmlformats.org/officeDocument/2006/relationships/slide" Target="/ppt/slides/slide4.xml" Id="Rdf4c02ebc88644f6" /><Relationship Type="http://schemas.openxmlformats.org/officeDocument/2006/relationships/notesMaster" Target="/ppt/notesMasters/notesMaster1.xml" Id="R5c6c24e280fa433a" /></Relationships>
</file>

<file path=ppt/notesSlides/_rels/notesSlide5.xml.rels>&#65279;<?xml version="1.0" encoding="utf-8"?><Relationships xmlns="http://schemas.openxmlformats.org/package/2006/relationships"><Relationship Type="http://schemas.openxmlformats.org/officeDocument/2006/relationships/slide" Target="/ppt/slides/slide5.xml" Id="R5ffc8e423ba6472b" /><Relationship Type="http://schemas.openxmlformats.org/officeDocument/2006/relationships/notesMaster" Target="/ppt/notesMasters/notesMaster1.xml" Id="Rbbd0c1abd8794464" /></Relationships>
</file>

<file path=ppt/notesSlides/_rels/notesSlide6.xml.rels>&#65279;<?xml version="1.0" encoding="utf-8"?><Relationships xmlns="http://schemas.openxmlformats.org/package/2006/relationships"><Relationship Type="http://schemas.openxmlformats.org/officeDocument/2006/relationships/slide" Target="/ppt/slides/slide6.xml" Id="Ra760c56404ec4825" /><Relationship Type="http://schemas.openxmlformats.org/officeDocument/2006/relationships/notesMaster" Target="/ppt/notesMasters/notesMaster1.xml" Id="R8a46881a0f404959" /></Relationships>
</file>

<file path=ppt/notesSlides/_rels/notesSlide7.xml.rels>&#65279;<?xml version="1.0" encoding="utf-8"?><Relationships xmlns="http://schemas.openxmlformats.org/package/2006/relationships"><Relationship Type="http://schemas.openxmlformats.org/officeDocument/2006/relationships/slide" Target="/ppt/slides/slide7.xml" Id="R4e864b5125c947d9" /><Relationship Type="http://schemas.openxmlformats.org/officeDocument/2006/relationships/notesMaster" Target="/ppt/notesMasters/notesMaster1.xml" Id="R73a9e8fd44434cd3" /></Relationships>
</file>

<file path=ppt/notesSlides/_rels/notesSlide8.xml.rels>&#65279;<?xml version="1.0" encoding="utf-8"?><Relationships xmlns="http://schemas.openxmlformats.org/package/2006/relationships"><Relationship Type="http://schemas.openxmlformats.org/officeDocument/2006/relationships/slide" Target="/ppt/slides/slide8.xml" Id="Rf05b42ca54964143" /><Relationship Type="http://schemas.openxmlformats.org/officeDocument/2006/relationships/notesMaster" Target="/ppt/notesMasters/notesMaster1.xml" Id="R8cbc02935ca24d8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Introduction (40 seconds)</a:t>
            </a:r>
          </a:p>
          <a:p xmlns:a="http://schemas.openxmlformats.org/drawingml/2006/main">
            <a:r>
              <a:t/>
            </a:r>
          </a:p>
          <a:p xmlns:a="http://schemas.openxmlformats.org/drawingml/2006/main">
            <a:r>
              <a:t>We are Team E: Jennifer Lee, Hamsini Tankala, Vibhas Nair, and Alex Tang. Our project is Adcut Logo Vectorizer, and our client contact is Nick Dokich. Adcut needs to turn customer logo images into geometry for its water jet cutting workflow. Our application will prepare those drawings for downstream CAD tools. Today we will cover the employee workflow, interface design, system metaphor, architecture, and selected development platform.</a:t>
            </a:r>
          </a:p>
          <a:p xmlns:a="http://schemas.openxmlformats.org/drawingml/2006/main">
            <a:r>
              <a:t/>
            </a:r>
          </a:p>
          <a:p xmlns:a="http://schemas.openxmlformats.org/drawingml/2006/main">
            <a:r>
              <a:t>Sources: client email responses supplied to the team; https://www.cs.unc.edu/~stotts/COMP523-F26/midTerm.html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Users and workflow (65 seconds)</a:t>
            </a:r>
          </a:p>
          <a:p xmlns:a="http://schemas.openxmlformats.org/drawingml/2006/main">
            <a:r>
              <a:t/>
            </a:r>
          </a:p>
          <a:p xmlns:a="http://schemas.openxmlformats.org/drawingml/2006/main">
            <a:r>
              <a:t>The intended users are Adcut owners and employees. A customer supplies artwork, often a photo or raster logo. Employees need to turn its colored regions into usable cutting geometry. The core interaction is to upload the artwork and download a DXF file that works in the downstream machine workflow. Color boundaries matter: even when two colors use the same material, the client wants those colors represented as distinct sections. Our processing pipeline will identify those regions and trace their boundaries. We will ask for an explicit physical output dimension so that pixels do not silently determine fabrication size. The application prepares geometry; CAD and CAM software still handle the cutting job.</a:t>
            </a:r>
          </a:p>
          <a:p xmlns:a="http://schemas.openxmlformats.org/drawingml/2006/main">
            <a:r>
              <a:t/>
            </a:r>
          </a:p>
          <a:p xmlns:a="http://schemas.openxmlformats.org/drawingml/2006/main">
            <a:r>
              <a:t>Sources: client email responses supplied to the team; https://www.cs.unc.edu/~stotts/COMP523-F26/midTerm.html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Scope and cutting quality (70 seconds)</a:t>
            </a:r>
          </a:p>
          <a:p xmlns:a="http://schemas.openxmlformats.org/drawingml/2006/main">
            <a:r>
              <a:t/>
            </a:r>
          </a:p>
          <a:p xmlns:a="http://schemas.openxmlformats.org/drawingml/2006/main">
            <a:r>
              <a:t>The confirmed core is image upload, vectorization, and usable file export. Preview and editing are optional rather than prerequisites to the basic workflow. Nick highlighted a problem he encountered with a competing tool: curved shapes became many short straight segments. We therefore plan native circles and arcs where the geometry supports them. That is a design objective, not a solved tracing result. DXF is our first export target. The client also prefers DWG and can use SVG as a fallback. We still need confirmation of DXF conventions, units, layers, tolerances, and accepted entities. PDF region selection and correction of enlarged low-resolution artwork are further design topics, not approved core requirements.</a:t>
            </a:r>
          </a:p>
          <a:p xmlns:a="http://schemas.openxmlformats.org/drawingml/2006/main">
            <a:r>
              <a:t/>
            </a:r>
          </a:p>
          <a:p xmlns:a="http://schemas.openxmlformats.org/drawingml/2006/main">
            <a:r>
              <a:t>Sources: client email responses supplied to the team; https://www.cs.unc.edu/~stotts/COMP523-F26/midTerm.html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Interface design (75 seconds)</a:t>
            </a:r>
          </a:p>
          <a:p xmlns:a="http://schemas.openxmlformats.org/drawingml/2006/main">
            <a:r>
              <a:t/>
            </a:r>
          </a:p>
          <a:p xmlns:a="http://schemas.openxmlformats.org/drawingml/2006/main">
            <a:r>
              <a:t>This is a static mockup of the planned local browser interface. The employee selects artwork, enters the required output width and units, and starts conversion. Color controls belong to the proposed design and still need validation against sample artwork. An optional preview can show the source and traced boundaries, alongside warnings that require review. Download becomes available only after conversion and validation succeed. Invalid files should leave the previous job untouched and produce a specific error. If geometry cannot be exported reliably, the system should explain the issue rather than offer a file as though it were ready for cutting. The preview does not prove machine compatibility; downstream import testing is still required.</a:t>
            </a:r>
          </a:p>
          <a:p xmlns:a="http://schemas.openxmlformats.org/drawingml/2006/main">
            <a:r>
              <a:t/>
            </a:r>
          </a:p>
          <a:p xmlns:a="http://schemas.openxmlformats.org/drawingml/2006/main">
            <a:r>
              <a:t>Sources: client email responses supplied to the team; https://www.cs.unc.edu/~stotts/COMP523-F26/midTerm.html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System metaphor (50 seconds)</a:t>
            </a:r>
          </a:p>
          <a:p xmlns:a="http://schemas.openxmlformats.org/drawingml/2006/main">
            <a:r>
              <a:t/>
            </a:r>
          </a:p>
          <a:p xmlns:a="http://schemas.openxmlformats.org/drawingml/2006/main">
            <a:r>
              <a:t>Our system metaphor is a digital stencil workshop. The artwork is the pattern, and the distinct colored sections become stencil pieces. Tracing describes each piece's edge. Curve fitting refines the geometry, and the DXF package carries those templates into CAD preparation. This vocabulary connects the user workflow to our modules. It also sets a useful boundary: the workshop prepares templates, but does not run the water jet or reconstruct detail missing from a blurry image. Adjacent stencil pieces also remind us that shared borders require careful handling so that we do not accidentally produce duplicate cutting instructions.</a:t>
            </a:r>
          </a:p>
          <a:p xmlns:a="http://schemas.openxmlformats.org/drawingml/2006/main">
            <a:r>
              <a:t/>
            </a:r>
          </a:p>
          <a:p xmlns:a="http://schemas.openxmlformats.org/drawingml/2006/main">
            <a:r>
              <a:t>Sources: client email responses supplied to the team; https://www.cs.unc.edu/~stotts/COMP523-F26/midTerm.html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 Architecture (85 seconds)</a:t>
            </a:r>
          </a:p>
          <a:p xmlns:a="http://schemas.openxmlformats.org/drawingml/2006/main">
            <a:r>
              <a:t/>
            </a:r>
          </a:p>
          <a:p xmlns:a="http://schemas.openxmlformats.org/drawingml/2006/main">
            <a:r>
              <a:t>The Streamlit interface manages files, settings, progress, and downloads. Input adapters decode artwork into an image representation. The processing layer segments colors and builds region boundaries with holes and adjacency information. A separate geometry stage will fit supported curves and apply the chosen physical scale. A validator checks closure, finite coordinates, degenerate entities, and duplicate boundaries before the export adapter writes DXF. Keeping this logic outside the UI allows tests to run without a browser. The existing foundation demonstrates native-circle DXF serialization with seven automated tests and a passing Windows check. It does not yet convert images. AutoCAD and IGEMS validation sit outside the application and require client samples and access to the target workflow.</a:t>
            </a:r>
          </a:p>
          <a:p xmlns:a="http://schemas.openxmlformats.org/drawingml/2006/main">
            <a:r>
              <a:t/>
            </a:r>
          </a:p>
          <a:p xmlns:a="http://schemas.openxmlformats.org/drawingml/2006/main">
            <a:r>
              <a:t>Sources: client email responses supplied to the team; https://www.cs.unc.edu/~stotts/COMP523-F26/midTerm.html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 Platform (65 seconds)</a:t>
            </a:r>
          </a:p>
          <a:p xmlns:a="http://schemas.openxmlformats.org/drawingml/2006/main">
            <a:r>
              <a:t/>
            </a:r>
          </a:p>
          <a:p xmlns:a="http://schemas.openxmlformats.org/drawingml/2006/main">
            <a:r>
              <a:t>We selected Python 3.11 and a local Streamlit browser interface for Windows. This keeps the UI and image-processing code in one language while we work on the geometry problems. OpenCV and NumPy provide image processing and contour operations. Pillow handles image decoding, and pypdfium2 is selected for later PDF rasterization. ezdxf handles DXF serialization. We use VS Code and GitHub, with pytest, Ruff, and pre-commit for development checks. Local execution is our initial deployment decision, not a client prohibition on cloud hosting. Hardware sizing and processing time need representative-file measurements. Native DWG export remains a separate feasibility question.</a:t>
            </a:r>
          </a:p>
          <a:p xmlns:a="http://schemas.openxmlformats.org/drawingml/2006/main">
            <a:r>
              <a:t/>
            </a:r>
          </a:p>
          <a:p xmlns:a="http://schemas.openxmlformats.org/drawingml/2006/main">
            <a:r>
              <a:t>Sources: client email responses supplied to the team; https://www.cs.unc.edu/~stotts/COMP523-F26/midTerm.html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Progress and validation (50 seconds)</a:t>
            </a:r>
          </a:p>
          <a:p xmlns:a="http://schemas.openxmlformats.org/drawingml/2006/main">
            <a:r>
              <a:t/>
            </a:r>
          </a:p>
          <a:p xmlns:a="http://schemas.openxmlformats.org/drawingml/2006/main">
            <a:r>
              <a:t>The website now contains the revised specifications, platform decision, architecture, system metaphor, and interface design. The separate development repository contains the tested native-circle export foundation. The next implementation work is the image-processing pipeline, shared-boundary handling, and curve fitting. The key external dependencies are representative artwork, accepted CAD examples, and confirmation of the target export conventions. Our acceptance endpoint is a DXF that works in Adcut's actual workflow. We have not performed that acceptance test yet. Thank you; we welcome questions about the design and the validation approach.</a:t>
            </a:r>
          </a:p>
          <a:p xmlns:a="http://schemas.openxmlformats.org/drawingml/2006/main">
            <a:r>
              <a:t/>
            </a:r>
          </a:p>
          <a:p xmlns:a="http://schemas.openxmlformats.org/drawingml/2006/main">
            <a:r>
              <a:t>Sources: client email responses supplied to the team; https://www.cs.unc.edu/~stotts/COMP523-F26/midTerm.html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c779acf6eac49a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5d9839a6d0c47c5" /><Relationship Type="http://schemas.openxmlformats.org/officeDocument/2006/relationships/slideLayout" Target="/ppt/slideLayouts/slideLayout1.xml" Id="Rc96f561f0b244a1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96f561f0b244a1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295fe44d7894a7f" /><Relationship Type="http://schemas.openxmlformats.org/officeDocument/2006/relationships/notesSlide" Target="/ppt/notesSlides/notesSlide1.xml" Id="Ra1af8487273644c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89e0309585e4212" /><Relationship Type="http://schemas.openxmlformats.org/officeDocument/2006/relationships/notesSlide" Target="/ppt/notesSlides/notesSlide2.xml" Id="R4d9855a6bf98448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96da7119572428f" /><Relationship Type="http://schemas.openxmlformats.org/officeDocument/2006/relationships/notesSlide" Target="/ppt/notesSlides/notesSlide3.xml" Id="R8a1e60bc5be84f0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62e58e1b48b4ee3" /><Relationship Type="http://schemas.openxmlformats.org/officeDocument/2006/relationships/notesSlide" Target="/ppt/notesSlides/notesSlide4.xml" Id="R75bb7a8109634da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660f4bba0804baa" /><Relationship Type="http://schemas.openxmlformats.org/officeDocument/2006/relationships/notesSlide" Target="/ppt/notesSlides/notesSlide5.xml" Id="Rbd9fd822ab21438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9439937fdf04d54" /><Relationship Type="http://schemas.openxmlformats.org/officeDocument/2006/relationships/notesSlide" Target="/ppt/notesSlides/notesSlide6.xml" Id="Rb6724425f928468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001973449134c77" /><Relationship Type="http://schemas.openxmlformats.org/officeDocument/2006/relationships/notesSlide" Target="/ppt/notesSlides/notesSlide7.xml" Id="R8100c705ac124aa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8f9b00ce2514bee" /><Relationship Type="http://schemas.openxmlformats.org/officeDocument/2006/relationships/notesSlide" Target="/ppt/notesSlides/notesSlide8.xml" Id="R88e09426f44747d6" /></Relationships>
</file>

<file path=ppt/slides/slide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F16FA86-DE9C-4AA8-8F51-827341171F19}"/>
              </a:ext>
            </a:extLst>
          </p:cNvPr>
          <p:cNvSpPr>
            <a:spLocks xmlns:a="http://schemas.openxmlformats.org/drawingml/2006/main" noGrp="1"/>
          </p:cNvSpPr>
          <p:nvPr/>
        </p:nvSpPr>
        <p:spPr>
          <a:xfrm xmlns:a="http://schemas.openxmlformats.org/drawingml/2006/main">
            <a:off x="609600" y="40005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94B"/>
                </a:solidFill>
                <a:latin typeface="Arial"/>
                <a:ea typeface="Arial"/>
                <a:cs typeface="Arial"/>
              </a:defRPr>
            </a:pPr>
            <a:r>
              <a:rPr sz="3450" b="1">
                <a:solidFill>
                  <a:srgbClr val="13294B"/>
                </a:solidFill>
                <a:latin typeface="Arial"/>
                <a:ea typeface="Arial"/>
                <a:cs typeface="Arial"/>
              </a:rPr>
              <a:t>Adcut Logo Vectorizer</a:t>
            </a:r>
          </a:p>
        </p:txBody>
      </p:sp>
      <p:sp>
        <p:nvSpPr>
          <p:cNvPr id="2" name="">
            <a:extLst xmlns:a="http://schemas.openxmlformats.org/drawingml/2006/main">
              <a:ext uri="{FF2B5EF4-FFF2-40B4-BE49-F238E27FC236}">
                <a16:creationId xmlns:a16="http://schemas.microsoft.com/office/drawing/2014/main" id="{34093631-1E42-4CBE-954D-6EF1D50EA164}"/>
              </a:ext>
            </a:extLst>
          </p:cNvPr>
          <p:cNvSpPr>
            <a:spLocks xmlns:a="http://schemas.openxmlformats.org/drawingml/2006/main" noGrp="1"/>
          </p:cNvSpPr>
          <p:nvPr/>
        </p:nvSpPr>
        <p:spPr>
          <a:xfrm xmlns:a="http://schemas.openxmlformats.org/drawingml/2006/main">
            <a:off x="609600" y="63436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177"/>
                </a:solidFill>
                <a:latin typeface="Arial"/>
                <a:ea typeface="Arial"/>
                <a:cs typeface="Arial"/>
              </a:defRPr>
            </a:pPr>
            <a:r>
              <a:rPr sz="1350" b="0">
                <a:solidFill>
                  <a:srgbClr val="526177"/>
                </a:solidFill>
                <a:latin typeface="Arial"/>
                <a:ea typeface="Arial"/>
                <a:cs typeface="Arial"/>
              </a:rPr>
              <a:t>1   Adcut Logo Vectorizer / Team E</a:t>
            </a:r>
          </a:p>
        </p:txBody>
      </p:sp>
      <p:sp>
        <p:nvSpPr>
          <p:cNvPr id="3" name="">
            <a:extLst xmlns:a="http://schemas.openxmlformats.org/drawingml/2006/main">
              <a:ext uri="{FF2B5EF4-FFF2-40B4-BE49-F238E27FC236}">
                <a16:creationId xmlns:a16="http://schemas.microsoft.com/office/drawing/2014/main" id="{2BAEB7CF-FEC9-40E6-AE25-01565376819A}"/>
              </a:ext>
            </a:extLst>
          </p:cNvPr>
          <p:cNvSpPr>
            <a:spLocks xmlns:a="http://schemas.openxmlformats.org/drawingml/2006/main" noGrp="1"/>
          </p:cNvSpPr>
          <p:nvPr/>
        </p:nvSpPr>
        <p:spPr>
          <a:xfrm xmlns:a="http://schemas.openxmlformats.org/drawingml/2006/main">
            <a:off x="609600" y="16668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4B9CD3"/>
                </a:solidFill>
                <a:latin typeface="Arial"/>
                <a:ea typeface="Arial"/>
                <a:cs typeface="Arial"/>
              </a:defRPr>
            </a:pPr>
            <a:r>
              <a:rPr sz="2550" b="1">
                <a:solidFill>
                  <a:srgbClr val="4B9CD3"/>
                </a:solidFill>
                <a:latin typeface="Arial"/>
                <a:ea typeface="Arial"/>
                <a:cs typeface="Arial"/>
              </a:rPr>
              <a:t>UNC COMP 523 / Team E</a:t>
            </a:r>
          </a:p>
        </p:txBody>
      </p:sp>
      <p:sp>
        <p:nvSpPr>
          <p:cNvPr id="4" name="">
            <a:extLst xmlns:a="http://schemas.openxmlformats.org/drawingml/2006/main">
              <a:ext uri="{FF2B5EF4-FFF2-40B4-BE49-F238E27FC236}">
                <a16:creationId xmlns:a16="http://schemas.microsoft.com/office/drawing/2014/main" id="{717C217A-6813-4277-96B6-5CFFB879C367}"/>
              </a:ext>
            </a:extLst>
          </p:cNvPr>
          <p:cNvSpPr>
            <a:spLocks xmlns:a="http://schemas.openxmlformats.org/drawingml/2006/main" noGrp="1"/>
          </p:cNvSpPr>
          <p:nvPr/>
        </p:nvSpPr>
        <p:spPr>
          <a:xfrm xmlns:a="http://schemas.openxmlformats.org/drawingml/2006/main">
            <a:off x="609600" y="24003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033"/>
                </a:solidFill>
                <a:latin typeface="Arial"/>
                <a:ea typeface="Arial"/>
                <a:cs typeface="Arial"/>
              </a:defRPr>
            </a:pPr>
            <a:r>
              <a:rPr sz="2250" b="0">
                <a:solidFill>
                  <a:srgbClr val="172033"/>
                </a:solidFill>
                <a:latin typeface="Arial"/>
                <a:ea typeface="Arial"/>
                <a:cs typeface="Arial"/>
              </a:rPr>
              <a:t>Midterm presentation</a:t>
            </a:r>
          </a:p>
          <a:p xmlns:a="http://schemas.openxmlformats.org/drawingml/2006/main">
            <a:pPr>
              <a:defRPr sz="2250" b="0">
                <a:solidFill>
                  <a:srgbClr val="172033"/>
                </a:solidFill>
                <a:latin typeface="Arial"/>
                <a:ea typeface="Arial"/>
                <a:cs typeface="Arial"/>
              </a:defRPr>
            </a:pPr>
            <a:r>
              <a:rPr sz="2250" b="0">
                <a:solidFill>
                  <a:srgbClr val="172033"/>
                </a:solidFill>
                <a:latin typeface="Arial"/>
                <a:ea typeface="Arial"/>
                <a:cs typeface="Arial"/>
              </a:rPr>
              <a:t>October 2026</a:t>
            </a:r>
          </a:p>
        </p:txBody>
      </p:sp>
      <p:sp>
        <p:nvSpPr>
          <p:cNvPr id="5" name="">
            <a:extLst xmlns:a="http://schemas.openxmlformats.org/drawingml/2006/main">
              <a:ext uri="{FF2B5EF4-FFF2-40B4-BE49-F238E27FC236}">
                <a16:creationId xmlns:a16="http://schemas.microsoft.com/office/drawing/2014/main" id="{4F865695-2059-462A-9F51-5DBBF76E3EF0}"/>
              </a:ext>
            </a:extLst>
          </p:cNvPr>
          <p:cNvSpPr>
            <a:spLocks xmlns:a="http://schemas.openxmlformats.org/drawingml/2006/main" noGrp="1"/>
          </p:cNvSpPr>
          <p:nvPr/>
        </p:nvSpPr>
        <p:spPr>
          <a:xfrm xmlns:a="http://schemas.openxmlformats.org/drawingml/2006/main">
            <a:off x="609600" y="37433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033"/>
                </a:solidFill>
                <a:latin typeface="Arial"/>
                <a:ea typeface="Arial"/>
                <a:cs typeface="Arial"/>
              </a:defRPr>
            </a:pPr>
            <a:r>
              <a:rPr sz="2250" b="0">
                <a:solidFill>
                  <a:srgbClr val="172033"/>
                </a:solidFill>
                <a:latin typeface="Arial"/>
                <a:ea typeface="Arial"/>
                <a:cs typeface="Arial"/>
              </a:rPr>
              <a:t>Jennifer Lee     Hamsini Tankala</a:t>
            </a:r>
          </a:p>
          <a:p xmlns:a="http://schemas.openxmlformats.org/drawingml/2006/main">
            <a:pPr>
              <a:defRPr sz="2250" b="0">
                <a:solidFill>
                  <a:srgbClr val="172033"/>
                </a:solidFill>
                <a:latin typeface="Arial"/>
                <a:ea typeface="Arial"/>
                <a:cs typeface="Arial"/>
              </a:defRPr>
            </a:pPr>
            <a:r>
              <a:rPr sz="2250" b="0">
                <a:solidFill>
                  <a:srgbClr val="172033"/>
                </a:solidFill>
                <a:latin typeface="Arial"/>
                <a:ea typeface="Arial"/>
                <a:cs typeface="Arial"/>
              </a:rPr>
              <a:t>Vibhas Nair      Alex Tang</a:t>
            </a:r>
          </a:p>
        </p:txBody>
      </p:sp>
      <p:sp>
        <p:nvSpPr>
          <p:cNvPr id="6" name="">
            <a:extLst xmlns:a="http://schemas.openxmlformats.org/drawingml/2006/main">
              <a:ext uri="{FF2B5EF4-FFF2-40B4-BE49-F238E27FC236}">
                <a16:creationId xmlns:a16="http://schemas.microsoft.com/office/drawing/2014/main" id="{93302465-70EB-4904-93CF-0932006B80C0}"/>
              </a:ext>
            </a:extLst>
          </p:cNvPr>
          <p:cNvSpPr>
            <a:spLocks xmlns:a="http://schemas.openxmlformats.org/drawingml/2006/main" noGrp="1"/>
          </p:cNvSpPr>
          <p:nvPr/>
        </p:nvSpPr>
        <p:spPr>
          <a:xfrm xmlns:a="http://schemas.openxmlformats.org/drawingml/2006/main">
            <a:off x="609600" y="509587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033"/>
                </a:solidFill>
                <a:latin typeface="Arial"/>
                <a:ea typeface="Arial"/>
                <a:cs typeface="Arial"/>
              </a:defRPr>
            </a:pPr>
            <a:r>
              <a:rPr sz="2250" b="0">
                <a:solidFill>
                  <a:srgbClr val="172033"/>
                </a:solidFill>
                <a:latin typeface="Arial"/>
                <a:ea typeface="Arial"/>
                <a:cs typeface="Arial"/>
              </a:rPr>
              <a:t>Client contact: Nick Dokich / Adcut</a:t>
            </a:r>
          </a:p>
        </p:txBody>
      </p:sp>
    </p:spTree>
    <p:extLst>
      <p:ext uri="{BB962C8B-B14F-4D97-AF65-F5344CB8AC3E}">
        <p14:creationId xmlns:p14="http://schemas.microsoft.com/office/powerpoint/2010/main" val="297932584"/>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7A13C2A-4D61-4506-97D6-09D2AA1A99D5}"/>
              </a:ext>
            </a:extLst>
          </p:cNvPr>
          <p:cNvSpPr>
            <a:spLocks xmlns:a="http://schemas.openxmlformats.org/drawingml/2006/main" noGrp="1"/>
          </p:cNvSpPr>
          <p:nvPr/>
        </p:nvSpPr>
        <p:spPr>
          <a:xfrm xmlns:a="http://schemas.openxmlformats.org/drawingml/2006/main">
            <a:off x="609600" y="40005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94B"/>
                </a:solidFill>
                <a:latin typeface="Arial"/>
                <a:ea typeface="Arial"/>
                <a:cs typeface="Arial"/>
              </a:defRPr>
            </a:pPr>
            <a:r>
              <a:rPr sz="3450" b="1">
                <a:solidFill>
                  <a:srgbClr val="13294B"/>
                </a:solidFill>
                <a:latin typeface="Arial"/>
                <a:ea typeface="Arial"/>
                <a:cs typeface="Arial"/>
              </a:rPr>
              <a:t>Users and the core workflow</a:t>
            </a:r>
          </a:p>
        </p:txBody>
      </p:sp>
      <p:sp>
        <p:nvSpPr>
          <p:cNvPr id="2" name="">
            <a:extLst xmlns:a="http://schemas.openxmlformats.org/drawingml/2006/main">
              <a:ext uri="{FF2B5EF4-FFF2-40B4-BE49-F238E27FC236}">
                <a16:creationId xmlns:a16="http://schemas.microsoft.com/office/drawing/2014/main" id="{4263A401-62F1-4BD5-876D-C379A74BCCE5}"/>
              </a:ext>
            </a:extLst>
          </p:cNvPr>
          <p:cNvSpPr>
            <a:spLocks xmlns:a="http://schemas.openxmlformats.org/drawingml/2006/main" noGrp="1"/>
          </p:cNvSpPr>
          <p:nvPr/>
        </p:nvSpPr>
        <p:spPr>
          <a:xfrm xmlns:a="http://schemas.openxmlformats.org/drawingml/2006/main">
            <a:off x="609600" y="63436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177"/>
                </a:solidFill>
                <a:latin typeface="Arial"/>
                <a:ea typeface="Arial"/>
                <a:cs typeface="Arial"/>
              </a:defRPr>
            </a:pPr>
            <a:r>
              <a:rPr sz="1350" b="0">
                <a:solidFill>
                  <a:srgbClr val="526177"/>
                </a:solidFill>
                <a:latin typeface="Arial"/>
                <a:ea typeface="Arial"/>
                <a:cs typeface="Arial"/>
              </a:rPr>
              <a:t>2   Adcut Logo Vectorizer / Team E</a:t>
            </a:r>
          </a:p>
        </p:txBody>
      </p:sp>
      <p:sp>
        <p:nvSpPr>
          <p:cNvPr id="3" name="">
            <a:extLst xmlns:a="http://schemas.openxmlformats.org/drawingml/2006/main">
              <a:ext uri="{FF2B5EF4-FFF2-40B4-BE49-F238E27FC236}">
                <a16:creationId xmlns:a16="http://schemas.microsoft.com/office/drawing/2014/main" id="{380207B6-A7F2-422D-A0DB-3F75595E4155}"/>
              </a:ext>
            </a:extLst>
          </p:cNvPr>
          <p:cNvSpPr>
            <a:spLocks xmlns:a="http://schemas.openxmlformats.org/drawingml/2006/main" noGrp="1"/>
          </p:cNvSpPr>
          <p:nvPr/>
        </p:nvSpPr>
        <p:spPr>
          <a:xfrm xmlns:a="http://schemas.openxmlformats.org/drawingml/2006/main">
            <a:off x="609600" y="15430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2033"/>
                </a:solidFill>
                <a:latin typeface="Arial"/>
                <a:ea typeface="Arial"/>
                <a:cs typeface="Arial"/>
              </a:defRPr>
            </a:pPr>
            <a:r>
              <a:rPr sz="2700" b="1">
                <a:solidFill>
                  <a:srgbClr val="172033"/>
                </a:solidFill>
                <a:latin typeface="Arial"/>
                <a:ea typeface="Arial"/>
                <a:cs typeface="Arial"/>
              </a:rPr>
              <a:t>Adcut owners and employees</a:t>
            </a:r>
          </a:p>
        </p:txBody>
      </p:sp>
      <p:sp>
        <p:nvSpPr>
          <p:cNvPr id="4" name="">
            <a:extLst xmlns:a="http://schemas.openxmlformats.org/drawingml/2006/main">
              <a:ext uri="{FF2B5EF4-FFF2-40B4-BE49-F238E27FC236}">
                <a16:creationId xmlns:a16="http://schemas.microsoft.com/office/drawing/2014/main" id="{CB29919F-8A22-4C0F-BBFF-E7323E5278FA}"/>
              </a:ext>
            </a:extLst>
          </p:cNvPr>
          <p:cNvSpPr>
            <a:spLocks xmlns:a="http://schemas.openxmlformats.org/drawingml/2006/main" noGrp="1"/>
          </p:cNvSpPr>
          <p:nvPr/>
        </p:nvSpPr>
        <p:spPr>
          <a:xfrm xmlns:a="http://schemas.openxmlformats.org/drawingml/2006/main">
            <a:off x="609600" y="2362200"/>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2033"/>
                </a:solidFill>
                <a:latin typeface="Arial"/>
                <a:ea typeface="Arial"/>
                <a:cs typeface="Arial"/>
              </a:defRPr>
            </a:pPr>
            <a:r>
              <a:rPr sz="2400" b="0">
                <a:solidFill>
                  <a:srgbClr val="172033"/>
                </a:solidFill>
                <a:latin typeface="Arial"/>
                <a:ea typeface="Arial"/>
                <a:cs typeface="Arial"/>
              </a:rPr>
              <a:t>Customer logos arrive as images of varying quality.</a:t>
            </a:r>
          </a:p>
          <a:p xmlns:a="http://schemas.openxmlformats.org/drawingml/2006/main">
            <a:pPr>
              <a:defRPr sz="2400" b="0">
                <a:solidFill>
                  <a:srgbClr val="172033"/>
                </a:solidFill>
                <a:latin typeface="Arial"/>
                <a:ea typeface="Arial"/>
                <a:cs typeface="Arial"/>
              </a:defRPr>
            </a:pPr>
            <a:r>
              <a:rPr sz="2400" b="0">
                <a:solidFill>
                  <a:srgbClr val="172033"/>
                </a:solidFill>
                <a:latin typeface="Arial"/>
                <a:ea typeface="Arial"/>
                <a:cs typeface="Arial"/>
              </a:rPr>
              <a:t>Employees need geometry they can use in the cutting workflow.</a:t>
            </a:r>
          </a:p>
        </p:txBody>
      </p:sp>
      <p:sp>
        <p:nvSpPr>
          <p:cNvPr id="5" name="">
            <a:extLst xmlns:a="http://schemas.openxmlformats.org/drawingml/2006/main">
              <a:ext uri="{FF2B5EF4-FFF2-40B4-BE49-F238E27FC236}">
                <a16:creationId xmlns:a16="http://schemas.microsoft.com/office/drawing/2014/main" id="{BBF5ABD4-3B47-4E2F-BDD0-B1B582759495}"/>
              </a:ext>
            </a:extLst>
          </p:cNvPr>
          <p:cNvSpPr>
            <a:spLocks xmlns:a="http://schemas.openxmlformats.org/drawingml/2006/main" noGrp="1"/>
          </p:cNvSpPr>
          <p:nvPr/>
        </p:nvSpPr>
        <p:spPr>
          <a:xfrm xmlns:a="http://schemas.openxmlformats.org/drawingml/2006/main">
            <a:off x="609600" y="3848100"/>
            <a:ext cx="1066800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94B"/>
                </a:solidFill>
                <a:latin typeface="Arial"/>
                <a:ea typeface="Arial"/>
                <a:cs typeface="Arial"/>
              </a:defRPr>
            </a:pPr>
            <a:r>
              <a:rPr sz="2550" b="1">
                <a:solidFill>
                  <a:srgbClr val="13294B"/>
                </a:solidFill>
                <a:latin typeface="Arial"/>
                <a:ea typeface="Arial"/>
                <a:cs typeface="Arial"/>
              </a:rPr>
              <a:t>Upload artwork</a:t>
            </a:r>
          </a:p>
          <a:p xmlns:a="http://schemas.openxmlformats.org/drawingml/2006/main">
            <a:pPr>
              <a:defRPr sz="2550" b="1">
                <a:solidFill>
                  <a:srgbClr val="13294B"/>
                </a:solidFill>
                <a:latin typeface="Arial"/>
                <a:ea typeface="Arial"/>
                <a:cs typeface="Arial"/>
              </a:defRPr>
            </a:pPr>
            <a:r>
              <a:rPr sz="2550" b="1">
                <a:solidFill>
                  <a:srgbClr val="13294B"/>
                </a:solidFill>
                <a:latin typeface="Arial"/>
                <a:ea typeface="Arial"/>
                <a:cs typeface="Arial"/>
              </a:rPr>
              <a:t>Identify distinct color regions</a:t>
            </a:r>
          </a:p>
          <a:p xmlns:a="http://schemas.openxmlformats.org/drawingml/2006/main">
            <a:pPr>
              <a:defRPr sz="2550" b="1">
                <a:solidFill>
                  <a:srgbClr val="13294B"/>
                </a:solidFill>
                <a:latin typeface="Arial"/>
                <a:ea typeface="Arial"/>
                <a:cs typeface="Arial"/>
              </a:defRPr>
            </a:pPr>
            <a:r>
              <a:rPr sz="2550" b="1">
                <a:solidFill>
                  <a:srgbClr val="13294B"/>
                </a:solidFill>
                <a:latin typeface="Arial"/>
                <a:ea typeface="Arial"/>
                <a:cs typeface="Arial"/>
              </a:rPr>
              <a:t>Trace boundaries and export DXF</a:t>
            </a:r>
          </a:p>
        </p:txBody>
      </p:sp>
    </p:spTree>
    <p:extLst>
      <p:ext uri="{BB962C8B-B14F-4D97-AF65-F5344CB8AC3E}">
        <p14:creationId xmlns:p14="http://schemas.microsoft.com/office/powerpoint/2010/main" val="418065916"/>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DB6B6E6-30B1-4778-9B53-EA0CAAE96D33}"/>
              </a:ext>
            </a:extLst>
          </p:cNvPr>
          <p:cNvSpPr>
            <a:spLocks xmlns:a="http://schemas.openxmlformats.org/drawingml/2006/main" noGrp="1"/>
          </p:cNvSpPr>
          <p:nvPr/>
        </p:nvSpPr>
        <p:spPr>
          <a:xfrm xmlns:a="http://schemas.openxmlformats.org/drawingml/2006/main">
            <a:off x="609600" y="40005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94B"/>
                </a:solidFill>
                <a:latin typeface="Arial"/>
                <a:ea typeface="Arial"/>
                <a:cs typeface="Arial"/>
              </a:defRPr>
            </a:pPr>
            <a:r>
              <a:rPr sz="3450" b="1">
                <a:solidFill>
                  <a:srgbClr val="13294B"/>
                </a:solidFill>
                <a:latin typeface="Arial"/>
                <a:ea typeface="Arial"/>
                <a:cs typeface="Arial"/>
              </a:rPr>
              <a:t>Scope and cutting quality</a:t>
            </a:r>
          </a:p>
        </p:txBody>
      </p:sp>
      <p:sp>
        <p:nvSpPr>
          <p:cNvPr id="2" name="">
            <a:extLst xmlns:a="http://schemas.openxmlformats.org/drawingml/2006/main">
              <a:ext uri="{FF2B5EF4-FFF2-40B4-BE49-F238E27FC236}">
                <a16:creationId xmlns:a16="http://schemas.microsoft.com/office/drawing/2014/main" id="{AF848571-83CE-4202-BC0E-7431615E9936}"/>
              </a:ext>
            </a:extLst>
          </p:cNvPr>
          <p:cNvSpPr>
            <a:spLocks xmlns:a="http://schemas.openxmlformats.org/drawingml/2006/main" noGrp="1"/>
          </p:cNvSpPr>
          <p:nvPr/>
        </p:nvSpPr>
        <p:spPr>
          <a:xfrm xmlns:a="http://schemas.openxmlformats.org/drawingml/2006/main">
            <a:off x="609600" y="63436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177"/>
                </a:solidFill>
                <a:latin typeface="Arial"/>
                <a:ea typeface="Arial"/>
                <a:cs typeface="Arial"/>
              </a:defRPr>
            </a:pPr>
            <a:r>
              <a:rPr sz="1350" b="0">
                <a:solidFill>
                  <a:srgbClr val="526177"/>
                </a:solidFill>
                <a:latin typeface="Arial"/>
                <a:ea typeface="Arial"/>
                <a:cs typeface="Arial"/>
              </a:rPr>
              <a:t>3   Adcut Logo Vectorizer / Team E</a:t>
            </a:r>
          </a:p>
        </p:txBody>
      </p:sp>
      <p:sp>
        <p:nvSpPr>
          <p:cNvPr id="3" name="">
            <a:extLst xmlns:a="http://schemas.openxmlformats.org/drawingml/2006/main">
              <a:ext uri="{FF2B5EF4-FFF2-40B4-BE49-F238E27FC236}">
                <a16:creationId xmlns:a16="http://schemas.microsoft.com/office/drawing/2014/main" id="{1C041D61-B6D8-410F-8ACD-BFEF132BAC36}"/>
              </a:ext>
            </a:extLst>
          </p:cNvPr>
          <p:cNvSpPr>
            <a:spLocks xmlns:a="http://schemas.openxmlformats.org/drawingml/2006/main" noGrp="1"/>
          </p:cNvSpPr>
          <p:nvPr/>
        </p:nvSpPr>
        <p:spPr>
          <a:xfrm xmlns:a="http://schemas.openxmlformats.org/drawingml/2006/main">
            <a:off x="609600" y="1504950"/>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94B"/>
                </a:solidFill>
                <a:latin typeface="Arial"/>
                <a:ea typeface="Arial"/>
                <a:cs typeface="Arial"/>
              </a:defRPr>
            </a:pPr>
            <a:r>
              <a:rPr sz="2550" b="1">
                <a:solidFill>
                  <a:srgbClr val="13294B"/>
                </a:solidFill>
                <a:latin typeface="Arial"/>
                <a:ea typeface="Arial"/>
                <a:cs typeface="Arial"/>
              </a:rPr>
              <a:t>Core</a:t>
            </a:r>
          </a:p>
        </p:txBody>
      </p:sp>
      <p:sp>
        <p:nvSpPr>
          <p:cNvPr id="4" name="">
            <a:extLst xmlns:a="http://schemas.openxmlformats.org/drawingml/2006/main">
              <a:ext uri="{FF2B5EF4-FFF2-40B4-BE49-F238E27FC236}">
                <a16:creationId xmlns:a16="http://schemas.microsoft.com/office/drawing/2014/main" id="{81CB89F3-3C45-4D18-AB72-7B6A8A2FA8C3}"/>
              </a:ext>
            </a:extLst>
          </p:cNvPr>
          <p:cNvSpPr>
            <a:spLocks xmlns:a="http://schemas.openxmlformats.org/drawingml/2006/main" noGrp="1"/>
          </p:cNvSpPr>
          <p:nvPr/>
        </p:nvSpPr>
        <p:spPr>
          <a:xfrm xmlns:a="http://schemas.openxmlformats.org/drawingml/2006/main">
            <a:off x="609600" y="2200275"/>
            <a:ext cx="514350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033"/>
                </a:solidFill>
                <a:latin typeface="Arial"/>
                <a:ea typeface="Arial"/>
                <a:cs typeface="Arial"/>
              </a:defRPr>
            </a:pPr>
            <a:r>
              <a:rPr sz="2175" b="0">
                <a:solidFill>
                  <a:srgbClr val="172033"/>
                </a:solidFill>
                <a:latin typeface="Arial"/>
                <a:ea typeface="Arial"/>
                <a:cs typeface="Arial"/>
              </a:rPr>
              <a:t>Image upload and vectorization</a:t>
            </a:r>
          </a:p>
          <a:p xmlns:a="http://schemas.openxmlformats.org/drawingml/2006/main">
            <a:pPr>
              <a:defRPr sz="2175" b="0">
                <a:solidFill>
                  <a:srgbClr val="172033"/>
                </a:solidFill>
                <a:latin typeface="Arial"/>
                <a:ea typeface="Arial"/>
                <a:cs typeface="Arial"/>
              </a:defRPr>
            </a:pPr>
            <a:r>
              <a:rPr sz="2175" b="0">
                <a:solidFill>
                  <a:srgbClr val="172033"/>
                </a:solidFill>
                <a:latin typeface="Arial"/>
                <a:ea typeface="Arial"/>
                <a:cs typeface="Arial"/>
              </a:rPr>
              <a:t>Usable DXF export</a:t>
            </a:r>
          </a:p>
          <a:p xmlns:a="http://schemas.openxmlformats.org/drawingml/2006/main">
            <a:pPr>
              <a:defRPr sz="2175" b="0">
                <a:solidFill>
                  <a:srgbClr val="172033"/>
                </a:solidFill>
                <a:latin typeface="Arial"/>
                <a:ea typeface="Arial"/>
                <a:cs typeface="Arial"/>
              </a:defRPr>
            </a:pPr>
            <a:r>
              <a:rPr sz="2175" b="0">
                <a:solidFill>
                  <a:srgbClr val="172033"/>
                </a:solidFill>
                <a:latin typeface="Arial"/>
                <a:ea typeface="Arial"/>
                <a:cs typeface="Arial"/>
              </a:rPr>
              <a:t>Distinct color sections</a:t>
            </a:r>
          </a:p>
          <a:p xmlns:a="http://schemas.openxmlformats.org/drawingml/2006/main">
            <a:pPr>
              <a:defRPr sz="2175" b="0">
                <a:solidFill>
                  <a:srgbClr val="172033"/>
                </a:solidFill>
                <a:latin typeface="Arial"/>
                <a:ea typeface="Arial"/>
                <a:cs typeface="Arial"/>
              </a:defRPr>
            </a:pPr>
            <a:r>
              <a:rPr sz="2175" b="0">
                <a:solidFill>
                  <a:srgbClr val="172033"/>
                </a:solidFill>
                <a:latin typeface="Arial"/>
                <a:ea typeface="Arial"/>
                <a:cs typeface="Arial"/>
              </a:rPr>
              <a:t>Native circles and arcs where suitable</a:t>
            </a:r>
          </a:p>
        </p:txBody>
      </p:sp>
      <p:sp>
        <p:nvSpPr>
          <p:cNvPr id="5" name="">
            <a:extLst xmlns:a="http://schemas.openxmlformats.org/drawingml/2006/main">
              <a:ext uri="{FF2B5EF4-FFF2-40B4-BE49-F238E27FC236}">
                <a16:creationId xmlns:a16="http://schemas.microsoft.com/office/drawing/2014/main" id="{AD88A0B5-446E-4F91-B960-0554532B5AEE}"/>
              </a:ext>
            </a:extLst>
          </p:cNvPr>
          <p:cNvSpPr>
            <a:spLocks xmlns:a="http://schemas.openxmlformats.org/drawingml/2006/main" noGrp="1"/>
          </p:cNvSpPr>
          <p:nvPr/>
        </p:nvSpPr>
        <p:spPr>
          <a:xfrm xmlns:a="http://schemas.openxmlformats.org/drawingml/2006/main">
            <a:off x="6477000" y="1504950"/>
            <a:ext cx="5095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94B"/>
                </a:solidFill>
                <a:latin typeface="Arial"/>
                <a:ea typeface="Arial"/>
                <a:cs typeface="Arial"/>
              </a:defRPr>
            </a:pPr>
            <a:r>
              <a:rPr sz="2550" b="1">
                <a:solidFill>
                  <a:srgbClr val="13294B"/>
                </a:solidFill>
                <a:latin typeface="Arial"/>
                <a:ea typeface="Arial"/>
                <a:cs typeface="Arial"/>
              </a:rPr>
              <a:t>Further validation</a:t>
            </a:r>
          </a:p>
        </p:txBody>
      </p:sp>
      <p:sp>
        <p:nvSpPr>
          <p:cNvPr id="6" name="">
            <a:extLst xmlns:a="http://schemas.openxmlformats.org/drawingml/2006/main">
              <a:ext uri="{FF2B5EF4-FFF2-40B4-BE49-F238E27FC236}">
                <a16:creationId xmlns:a16="http://schemas.microsoft.com/office/drawing/2014/main" id="{8F4B1E02-4BA3-4B19-8682-D44B36D29C60}"/>
              </a:ext>
            </a:extLst>
          </p:cNvPr>
          <p:cNvSpPr>
            <a:spLocks xmlns:a="http://schemas.openxmlformats.org/drawingml/2006/main" noGrp="1"/>
          </p:cNvSpPr>
          <p:nvPr/>
        </p:nvSpPr>
        <p:spPr>
          <a:xfrm xmlns:a="http://schemas.openxmlformats.org/drawingml/2006/main">
            <a:off x="6477000" y="2200275"/>
            <a:ext cx="5095875"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033"/>
                </a:solidFill>
                <a:latin typeface="Arial"/>
                <a:ea typeface="Arial"/>
                <a:cs typeface="Arial"/>
              </a:defRPr>
            </a:pPr>
            <a:r>
              <a:rPr sz="2175" b="0">
                <a:solidFill>
                  <a:srgbClr val="172033"/>
                </a:solidFill>
                <a:latin typeface="Arial"/>
                <a:ea typeface="Arial"/>
                <a:cs typeface="Arial"/>
              </a:rPr>
              <a:t>DXF units, scale, and entity support</a:t>
            </a:r>
          </a:p>
          <a:p xmlns:a="http://schemas.openxmlformats.org/drawingml/2006/main">
            <a:pPr>
              <a:defRPr sz="2175" b="0">
                <a:solidFill>
                  <a:srgbClr val="172033"/>
                </a:solidFill>
                <a:latin typeface="Arial"/>
                <a:ea typeface="Arial"/>
                <a:cs typeface="Arial"/>
              </a:defRPr>
            </a:pPr>
            <a:r>
              <a:rPr sz="2175" b="0">
                <a:solidFill>
                  <a:srgbClr val="172033"/>
                </a:solidFill>
                <a:latin typeface="Arial"/>
                <a:ea typeface="Arial"/>
                <a:cs typeface="Arial"/>
              </a:rPr>
              <a:t>DWG feasibility; SVG fallback</a:t>
            </a:r>
          </a:p>
          <a:p xmlns:a="http://schemas.openxmlformats.org/drawingml/2006/main">
            <a:pPr>
              <a:defRPr sz="2175" b="0">
                <a:solidFill>
                  <a:srgbClr val="172033"/>
                </a:solidFill>
                <a:latin typeface="Arial"/>
                <a:ea typeface="Arial"/>
                <a:cs typeface="Arial"/>
              </a:defRPr>
            </a:pPr>
            <a:r>
              <a:rPr sz="2175" b="0">
                <a:solidFill>
                  <a:srgbClr val="172033"/>
                </a:solidFill>
                <a:latin typeface="Arial"/>
                <a:ea typeface="Arial"/>
                <a:cs typeface="Arial"/>
              </a:rPr>
              <a:t>Optional preview and editing</a:t>
            </a:r>
          </a:p>
          <a:p xmlns:a="http://schemas.openxmlformats.org/drawingml/2006/main">
            <a:pPr>
              <a:defRPr sz="2175" b="0">
                <a:solidFill>
                  <a:srgbClr val="172033"/>
                </a:solidFill>
                <a:latin typeface="Arial"/>
                <a:ea typeface="Arial"/>
                <a:cs typeface="Arial"/>
              </a:defRPr>
            </a:pPr>
            <a:r>
              <a:rPr sz="2175" b="0">
                <a:solidFill>
                  <a:srgbClr val="172033"/>
                </a:solidFill>
                <a:latin typeface="Arial"/>
                <a:ea typeface="Arial"/>
                <a:cs typeface="Arial"/>
              </a:rPr>
              <a:t>PDF selection and enlarged artwork</a:t>
            </a:r>
          </a:p>
        </p:txBody>
      </p:sp>
      <p:sp>
        <p:nvSpPr>
          <p:cNvPr id="7" name="">
            <a:extLst xmlns:a="http://schemas.openxmlformats.org/drawingml/2006/main">
              <a:ext uri="{FF2B5EF4-FFF2-40B4-BE49-F238E27FC236}">
                <a16:creationId xmlns:a16="http://schemas.microsoft.com/office/drawing/2014/main" id="{AB83F8C5-2966-4EEF-9315-B4A5BB41795C}"/>
              </a:ext>
            </a:extLst>
          </p:cNvPr>
          <p:cNvSpPr>
            <a:spLocks xmlns:a="http://schemas.openxmlformats.org/drawingml/2006/main" noGrp="1"/>
          </p:cNvSpPr>
          <p:nvPr/>
        </p:nvSpPr>
        <p:spPr>
          <a:xfrm xmlns:a="http://schemas.openxmlformats.org/drawingml/2006/main">
            <a:off x="609600" y="5305425"/>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2033"/>
                </a:solidFill>
                <a:latin typeface="Arial"/>
                <a:ea typeface="Arial"/>
                <a:cs typeface="Arial"/>
              </a:defRPr>
            </a:pPr>
            <a:r>
              <a:rPr sz="2175" b="1">
                <a:solidFill>
                  <a:srgbClr val="172033"/>
                </a:solidFill>
                <a:latin typeface="Arial"/>
                <a:ea typeface="Arial"/>
                <a:cs typeface="Arial"/>
              </a:rPr>
              <a:t>Avoid thousands of short segments and unintended doubled boundaries.</a:t>
            </a:r>
          </a:p>
        </p:txBody>
      </p:sp>
    </p:spTree>
    <p:extLst>
      <p:ext uri="{BB962C8B-B14F-4D97-AF65-F5344CB8AC3E}">
        <p14:creationId xmlns:p14="http://schemas.microsoft.com/office/powerpoint/2010/main" val="955833443"/>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047822C-E57A-4807-ADFD-B1B5CD858605}"/>
              </a:ext>
            </a:extLst>
          </p:cNvPr>
          <p:cNvSpPr>
            <a:spLocks xmlns:a="http://schemas.openxmlformats.org/drawingml/2006/main" noGrp="1"/>
          </p:cNvSpPr>
          <p:nvPr/>
        </p:nvSpPr>
        <p:spPr>
          <a:xfrm xmlns:a="http://schemas.openxmlformats.org/drawingml/2006/main">
            <a:off x="609600" y="40005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94B"/>
                </a:solidFill>
                <a:latin typeface="Arial"/>
                <a:ea typeface="Arial"/>
                <a:cs typeface="Arial"/>
              </a:defRPr>
            </a:pPr>
            <a:r>
              <a:rPr sz="3450" b="1">
                <a:solidFill>
                  <a:srgbClr val="13294B"/>
                </a:solidFill>
                <a:latin typeface="Arial"/>
                <a:ea typeface="Arial"/>
                <a:cs typeface="Arial"/>
              </a:rPr>
              <a:t>User interface mockup</a:t>
            </a:r>
          </a:p>
        </p:txBody>
      </p:sp>
      <p:sp>
        <p:nvSpPr>
          <p:cNvPr id="2" name="">
            <a:extLst xmlns:a="http://schemas.openxmlformats.org/drawingml/2006/main">
              <a:ext uri="{FF2B5EF4-FFF2-40B4-BE49-F238E27FC236}">
                <a16:creationId xmlns:a16="http://schemas.microsoft.com/office/drawing/2014/main" id="{CB33C936-5F34-44F8-BC52-2280CE97450A}"/>
              </a:ext>
            </a:extLst>
          </p:cNvPr>
          <p:cNvSpPr>
            <a:spLocks xmlns:a="http://schemas.openxmlformats.org/drawingml/2006/main" noGrp="1"/>
          </p:cNvSpPr>
          <p:nvPr/>
        </p:nvSpPr>
        <p:spPr>
          <a:xfrm xmlns:a="http://schemas.openxmlformats.org/drawingml/2006/main">
            <a:off x="609600" y="63436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177"/>
                </a:solidFill>
                <a:latin typeface="Arial"/>
                <a:ea typeface="Arial"/>
                <a:cs typeface="Arial"/>
              </a:defRPr>
            </a:pPr>
            <a:r>
              <a:rPr sz="1350" b="0">
                <a:solidFill>
                  <a:srgbClr val="526177"/>
                </a:solidFill>
                <a:latin typeface="Arial"/>
                <a:ea typeface="Arial"/>
                <a:cs typeface="Arial"/>
              </a:rPr>
              <a:t>4   Adcut Logo Vectorizer / Team E</a:t>
            </a:r>
          </a:p>
        </p:txBody>
      </p:sp>
      <p:sp>
        <p:nvSpPr>
          <p:cNvPr id="3" name="">
            <a:extLst xmlns:a="http://schemas.openxmlformats.org/drawingml/2006/main">
              <a:ext uri="{FF2B5EF4-FFF2-40B4-BE49-F238E27FC236}">
                <a16:creationId xmlns:a16="http://schemas.microsoft.com/office/drawing/2014/main" id="{58443882-FAF6-4985-8C74-FA94EA1D250A}"/>
              </a:ext>
            </a:extLst>
          </p:cNvPr>
          <p:cNvSpPr>
            <a:spLocks xmlns:a="http://schemas.openxmlformats.org/drawingml/2006/main" noGrp="1"/>
          </p:cNvSpPr>
          <p:nvPr/>
        </p:nvSpPr>
        <p:spPr>
          <a:xfrm xmlns:a="http://schemas.openxmlformats.org/drawingml/2006/main">
            <a:off x="609600" y="12858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177"/>
                </a:solidFill>
                <a:latin typeface="Arial"/>
                <a:ea typeface="Arial"/>
                <a:cs typeface="Arial"/>
              </a:defRPr>
            </a:pPr>
            <a:r>
              <a:rPr sz="1800" b="0">
                <a:solidFill>
                  <a:srgbClr val="526177"/>
                </a:solidFill>
                <a:latin typeface="Arial"/>
                <a:ea typeface="Arial"/>
                <a:cs typeface="Arial"/>
              </a:rPr>
              <a:t>Proposed local browser interface</a:t>
            </a:r>
          </a:p>
        </p:txBody>
      </p:sp>
      <p:sp>
        <p:nvSpPr>
          <p:cNvPr id="4" name="">
            <a:extLst xmlns:a="http://schemas.openxmlformats.org/drawingml/2006/main">
              <a:ext uri="{FF2B5EF4-FFF2-40B4-BE49-F238E27FC236}">
                <a16:creationId xmlns:a16="http://schemas.microsoft.com/office/drawing/2014/main" id="{8C26FB71-031F-4EED-8BA1-B436A60C498C}"/>
              </a:ext>
            </a:extLst>
          </p:cNvPr>
          <p:cNvSpPr>
            <a:spLocks xmlns:a="http://schemas.openxmlformats.org/drawingml/2006/main" noGrp="1"/>
          </p:cNvSpPr>
          <p:nvPr/>
        </p:nvSpPr>
        <p:spPr>
          <a:xfrm xmlns:a="http://schemas.openxmlformats.org/drawingml/2006/main">
            <a:off x="666750" y="1905000"/>
            <a:ext cx="10858500" cy="523875"/>
          </a:xfrm>
          <a:prstGeom xmlns:a="http://schemas.openxmlformats.org/drawingml/2006/main" prst="rect">
            <a:avLst/>
          </a:prstGeom>
          <a:solidFill xmlns:a="http://schemas.openxmlformats.org/drawingml/2006/main">
            <a:srgbClr val="13294B"/>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Adcut Logo Vectorizer</a:t>
            </a:r>
          </a:p>
        </p:txBody>
      </p:sp>
      <p:sp>
        <p:nvSpPr>
          <p:cNvPr id="5" name="">
            <a:extLst xmlns:a="http://schemas.openxmlformats.org/drawingml/2006/main">
              <a:ext uri="{FF2B5EF4-FFF2-40B4-BE49-F238E27FC236}">
                <a16:creationId xmlns:a16="http://schemas.microsoft.com/office/drawing/2014/main" id="{4B9B4FF5-9783-431E-B530-A3B6286CB339}"/>
              </a:ext>
            </a:extLst>
          </p:cNvPr>
          <p:cNvSpPr>
            <a:spLocks xmlns:a="http://schemas.openxmlformats.org/drawingml/2006/main" noGrp="1"/>
          </p:cNvSpPr>
          <p:nvPr/>
        </p:nvSpPr>
        <p:spPr>
          <a:xfrm xmlns:a="http://schemas.openxmlformats.org/drawingml/2006/main">
            <a:off x="666750" y="2628900"/>
            <a:ext cx="3762375" cy="2857500"/>
          </a:xfrm>
          <a:prstGeom xmlns:a="http://schemas.openxmlformats.org/drawingml/2006/main" prst="rect">
            <a:avLst/>
          </a:prstGeom>
          <a:solidFill xmlns:a="http://schemas.openxmlformats.org/drawingml/2006/main">
            <a:srgbClr val="E5EEF5"/>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033"/>
                </a:solidFill>
                <a:latin typeface="Arial"/>
                <a:ea typeface="Arial"/>
                <a:cs typeface="Arial"/>
              </a:defRPr>
            </a:pPr>
            <a:r>
              <a:rPr sz="1950" b="0">
                <a:solidFill>
                  <a:srgbClr val="172033"/>
                </a:solidFill>
                <a:latin typeface="Arial"/>
                <a:ea typeface="Arial"/>
                <a:cs typeface="Arial"/>
              </a:rPr>
              <a:t>Artwork</a:t>
            </a:r>
          </a:p>
          <a:p xmlns:a="http://schemas.openxmlformats.org/drawingml/2006/main">
            <a:r>
              <a:t/>
            </a:r>
          </a:p>
          <a:p xmlns:a="http://schemas.openxmlformats.org/drawingml/2006/main">
            <a:pPr>
              <a:defRPr sz="1950" b="0">
                <a:solidFill>
                  <a:srgbClr val="172033"/>
                </a:solidFill>
                <a:latin typeface="Arial"/>
                <a:ea typeface="Arial"/>
                <a:cs typeface="Arial"/>
              </a:defRPr>
            </a:pPr>
            <a:r>
              <a:rPr sz="1950" b="0">
                <a:solidFill>
                  <a:srgbClr val="172033"/>
                </a:solidFill>
                <a:latin typeface="Arial"/>
                <a:ea typeface="Arial"/>
                <a:cs typeface="Arial"/>
              </a:rPr>
              <a:t>Choose image</a:t>
            </a:r>
          </a:p>
          <a:p xmlns:a="http://schemas.openxmlformats.org/drawingml/2006/main">
            <a:r>
              <a:t/>
            </a:r>
          </a:p>
          <a:p xmlns:a="http://schemas.openxmlformats.org/drawingml/2006/main">
            <a:pPr>
              <a:defRPr sz="1950" b="0">
                <a:solidFill>
                  <a:srgbClr val="172033"/>
                </a:solidFill>
                <a:latin typeface="Arial"/>
                <a:ea typeface="Arial"/>
                <a:cs typeface="Arial"/>
              </a:defRPr>
            </a:pPr>
            <a:r>
              <a:rPr sz="1950" b="0">
                <a:solidFill>
                  <a:srgbClr val="172033"/>
                </a:solidFill>
                <a:latin typeface="Arial"/>
                <a:ea typeface="Arial"/>
                <a:cs typeface="Arial"/>
              </a:rPr>
              <a:t>Output width: [value]</a:t>
            </a:r>
          </a:p>
          <a:p xmlns:a="http://schemas.openxmlformats.org/drawingml/2006/main">
            <a:pPr>
              <a:defRPr sz="1950" b="0">
                <a:solidFill>
                  <a:srgbClr val="172033"/>
                </a:solidFill>
                <a:latin typeface="Arial"/>
                <a:ea typeface="Arial"/>
                <a:cs typeface="Arial"/>
              </a:defRPr>
            </a:pPr>
            <a:r>
              <a:rPr sz="1950" b="0">
                <a:solidFill>
                  <a:srgbClr val="172033"/>
                </a:solidFill>
                <a:latin typeface="Arial"/>
                <a:ea typeface="Arial"/>
                <a:cs typeface="Arial"/>
              </a:rPr>
              <a:t>Units: [mm / inches]</a:t>
            </a:r>
          </a:p>
          <a:p xmlns:a="http://schemas.openxmlformats.org/drawingml/2006/main">
            <a:pPr>
              <a:defRPr sz="1950" b="0">
                <a:solidFill>
                  <a:srgbClr val="172033"/>
                </a:solidFill>
                <a:latin typeface="Arial"/>
                <a:ea typeface="Arial"/>
                <a:cs typeface="Arial"/>
              </a:defRPr>
            </a:pPr>
            <a:r>
              <a:rPr sz="1950" b="0">
                <a:solidFill>
                  <a:srgbClr val="172033"/>
                </a:solidFill>
                <a:latin typeface="Arial"/>
                <a:ea typeface="Arial"/>
                <a:cs typeface="Arial"/>
              </a:rPr>
              <a:t>Color regions: [count]</a:t>
            </a:r>
          </a:p>
        </p:txBody>
      </p:sp>
      <p:sp>
        <p:nvSpPr>
          <p:cNvPr id="6" name="">
            <a:extLst xmlns:a="http://schemas.openxmlformats.org/drawingml/2006/main">
              <a:ext uri="{FF2B5EF4-FFF2-40B4-BE49-F238E27FC236}">
                <a16:creationId xmlns:a16="http://schemas.microsoft.com/office/drawing/2014/main" id="{6342E9E6-AC0C-487C-AD02-6EF100403F46}"/>
              </a:ext>
            </a:extLst>
          </p:cNvPr>
          <p:cNvSpPr>
            <a:spLocks xmlns:a="http://schemas.openxmlformats.org/drawingml/2006/main" noGrp="1"/>
          </p:cNvSpPr>
          <p:nvPr/>
        </p:nvSpPr>
        <p:spPr>
          <a:xfrm xmlns:a="http://schemas.openxmlformats.org/drawingml/2006/main">
            <a:off x="4714875" y="2628900"/>
            <a:ext cx="6810375" cy="23812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033"/>
                </a:solidFill>
                <a:latin typeface="Arial"/>
                <a:ea typeface="Arial"/>
                <a:cs typeface="Arial"/>
              </a:defRPr>
            </a:pPr>
            <a:r>
              <a:rPr sz="2100" b="0">
                <a:solidFill>
                  <a:srgbClr val="172033"/>
                </a:solidFill>
                <a:latin typeface="Arial"/>
                <a:ea typeface="Arial"/>
                <a:cs typeface="Arial"/>
              </a:rPr>
              <a:t>Preview (optional)</a:t>
            </a:r>
          </a:p>
          <a:p xmlns:a="http://schemas.openxmlformats.org/drawingml/2006/main">
            <a:r>
              <a:t/>
            </a:r>
          </a:p>
          <a:p xmlns:a="http://schemas.openxmlformats.org/drawingml/2006/main">
            <a:pPr>
              <a:defRPr sz="2100" b="0">
                <a:solidFill>
                  <a:srgbClr val="172033"/>
                </a:solidFill>
                <a:latin typeface="Arial"/>
                <a:ea typeface="Arial"/>
                <a:cs typeface="Arial"/>
              </a:defRPr>
            </a:pPr>
            <a:r>
              <a:rPr sz="2100" b="0">
                <a:solidFill>
                  <a:srgbClr val="172033"/>
                </a:solidFill>
                <a:latin typeface="Arial"/>
                <a:ea typeface="Arial"/>
                <a:cs typeface="Arial"/>
              </a:rPr>
              <a:t>Original artwork and traced boundaries</a:t>
            </a:r>
          </a:p>
          <a:p xmlns:a="http://schemas.openxmlformats.org/drawingml/2006/main">
            <a:r>
              <a:t/>
            </a:r>
          </a:p>
          <a:p xmlns:a="http://schemas.openxmlformats.org/drawingml/2006/main">
            <a:pPr>
              <a:defRPr sz="2100" b="0">
                <a:solidFill>
                  <a:srgbClr val="172033"/>
                </a:solidFill>
                <a:latin typeface="Arial"/>
                <a:ea typeface="Arial"/>
                <a:cs typeface="Arial"/>
              </a:defRPr>
            </a:pPr>
            <a:r>
              <a:rPr sz="2100" b="0">
                <a:solidFill>
                  <a:srgbClr val="172033"/>
                </a:solidFill>
                <a:latin typeface="Arial"/>
                <a:ea typeface="Arial"/>
                <a:cs typeface="Arial"/>
              </a:rPr>
              <a:t>Warnings: geometry needs review</a:t>
            </a:r>
          </a:p>
        </p:txBody>
      </p:sp>
      <p:sp>
        <p:nvSpPr>
          <p:cNvPr id="7" name="">
            <a:extLst xmlns:a="http://schemas.openxmlformats.org/drawingml/2006/main">
              <a:ext uri="{FF2B5EF4-FFF2-40B4-BE49-F238E27FC236}">
                <a16:creationId xmlns:a16="http://schemas.microsoft.com/office/drawing/2014/main" id="{B84E3BF8-47FB-4947-A400-189FC964DA07}"/>
              </a:ext>
            </a:extLst>
          </p:cNvPr>
          <p:cNvSpPr>
            <a:spLocks xmlns:a="http://schemas.openxmlformats.org/drawingml/2006/main" noGrp="1"/>
          </p:cNvSpPr>
          <p:nvPr/>
        </p:nvSpPr>
        <p:spPr>
          <a:xfrm xmlns:a="http://schemas.openxmlformats.org/drawingml/2006/main">
            <a:off x="762000" y="5638800"/>
            <a:ext cx="2286000" cy="457200"/>
          </a:xfrm>
          <a:prstGeom xmlns:a="http://schemas.openxmlformats.org/drawingml/2006/main" prst="rect">
            <a:avLst/>
          </a:prstGeom>
          <a:solidFill xmlns:a="http://schemas.openxmlformats.org/drawingml/2006/main">
            <a:srgbClr val="D8ECFA"/>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3294B"/>
                </a:solidFill>
                <a:latin typeface="Arial"/>
                <a:ea typeface="Arial"/>
                <a:cs typeface="Arial"/>
              </a:defRPr>
            </a:pPr>
            <a:r>
              <a:rPr sz="1950" b="1">
                <a:solidFill>
                  <a:srgbClr val="13294B"/>
                </a:solidFill>
                <a:latin typeface="Arial"/>
                <a:ea typeface="Arial"/>
                <a:cs typeface="Arial"/>
              </a:rPr>
              <a:t>Convert</a:t>
            </a:r>
          </a:p>
        </p:txBody>
      </p:sp>
      <p:sp>
        <p:nvSpPr>
          <p:cNvPr id="8" name="">
            <a:extLst xmlns:a="http://schemas.openxmlformats.org/drawingml/2006/main">
              <a:ext uri="{FF2B5EF4-FFF2-40B4-BE49-F238E27FC236}">
                <a16:creationId xmlns:a16="http://schemas.microsoft.com/office/drawing/2014/main" id="{2FAE5EFC-E3F2-4D31-8DC7-827E9BC25D01}"/>
              </a:ext>
            </a:extLst>
          </p:cNvPr>
          <p:cNvSpPr>
            <a:spLocks xmlns:a="http://schemas.openxmlformats.org/drawingml/2006/main" noGrp="1"/>
          </p:cNvSpPr>
          <p:nvPr/>
        </p:nvSpPr>
        <p:spPr>
          <a:xfrm xmlns:a="http://schemas.openxmlformats.org/drawingml/2006/main">
            <a:off x="7762875" y="5638800"/>
            <a:ext cx="3333750" cy="457200"/>
          </a:xfrm>
          <a:prstGeom xmlns:a="http://schemas.openxmlformats.org/drawingml/2006/main" prst="rect">
            <a:avLst/>
          </a:prstGeom>
          <a:solidFill xmlns:a="http://schemas.openxmlformats.org/drawingml/2006/main">
            <a:srgbClr val="D8ECFA"/>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3294B"/>
                </a:solidFill>
                <a:latin typeface="Arial"/>
                <a:ea typeface="Arial"/>
                <a:cs typeface="Arial"/>
              </a:defRPr>
            </a:pPr>
            <a:r>
              <a:rPr sz="1950" b="1">
                <a:solidFill>
                  <a:srgbClr val="13294B"/>
                </a:solidFill>
                <a:latin typeface="Arial"/>
                <a:ea typeface="Arial"/>
                <a:cs typeface="Arial"/>
              </a:rPr>
              <a:t>Download DXF</a:t>
            </a:r>
          </a:p>
        </p:txBody>
      </p:sp>
    </p:spTree>
    <p:extLst>
      <p:ext uri="{BB962C8B-B14F-4D97-AF65-F5344CB8AC3E}">
        <p14:creationId xmlns:p14="http://schemas.microsoft.com/office/powerpoint/2010/main" val="1852238492"/>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1F15DB7-C715-465F-AAB9-C40B767DB5C8}"/>
              </a:ext>
            </a:extLst>
          </p:cNvPr>
          <p:cNvSpPr>
            <a:spLocks xmlns:a="http://schemas.openxmlformats.org/drawingml/2006/main" noGrp="1"/>
          </p:cNvSpPr>
          <p:nvPr/>
        </p:nvSpPr>
        <p:spPr>
          <a:xfrm xmlns:a="http://schemas.openxmlformats.org/drawingml/2006/main">
            <a:off x="609600" y="40005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94B"/>
                </a:solidFill>
                <a:latin typeface="Arial"/>
                <a:ea typeface="Arial"/>
                <a:cs typeface="Arial"/>
              </a:defRPr>
            </a:pPr>
            <a:r>
              <a:rPr sz="3450" b="1">
                <a:solidFill>
                  <a:srgbClr val="13294B"/>
                </a:solidFill>
                <a:latin typeface="Arial"/>
                <a:ea typeface="Arial"/>
                <a:cs typeface="Arial"/>
              </a:rPr>
              <a:t>System metaphor: a digital stencil workshop</a:t>
            </a:r>
          </a:p>
        </p:txBody>
      </p:sp>
      <p:sp>
        <p:nvSpPr>
          <p:cNvPr id="2" name="">
            <a:extLst xmlns:a="http://schemas.openxmlformats.org/drawingml/2006/main">
              <a:ext uri="{FF2B5EF4-FFF2-40B4-BE49-F238E27FC236}">
                <a16:creationId xmlns:a16="http://schemas.microsoft.com/office/drawing/2014/main" id="{7FBF8C3D-D4D3-43DF-9BC4-CC0953EAB3B4}"/>
              </a:ext>
            </a:extLst>
          </p:cNvPr>
          <p:cNvSpPr>
            <a:spLocks xmlns:a="http://schemas.openxmlformats.org/drawingml/2006/main" noGrp="1"/>
          </p:cNvSpPr>
          <p:nvPr/>
        </p:nvSpPr>
        <p:spPr>
          <a:xfrm xmlns:a="http://schemas.openxmlformats.org/drawingml/2006/main">
            <a:off x="609600" y="63436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177"/>
                </a:solidFill>
                <a:latin typeface="Arial"/>
                <a:ea typeface="Arial"/>
                <a:cs typeface="Arial"/>
              </a:defRPr>
            </a:pPr>
            <a:r>
              <a:rPr sz="1350" b="0">
                <a:solidFill>
                  <a:srgbClr val="526177"/>
                </a:solidFill>
                <a:latin typeface="Arial"/>
                <a:ea typeface="Arial"/>
                <a:cs typeface="Arial"/>
              </a:rPr>
              <a:t>5   Adcut Logo Vectorizer / Team E</a:t>
            </a:r>
          </a:p>
        </p:txBody>
      </p:sp>
      <p:sp>
        <p:nvSpPr>
          <p:cNvPr id="3" name="">
            <a:extLst xmlns:a="http://schemas.openxmlformats.org/drawingml/2006/main">
              <a:ext uri="{FF2B5EF4-FFF2-40B4-BE49-F238E27FC236}">
                <a16:creationId xmlns:a16="http://schemas.microsoft.com/office/drawing/2014/main" id="{111A888C-84A4-4504-9F7A-25956E1AFE28}"/>
              </a:ext>
            </a:extLst>
          </p:cNvPr>
          <p:cNvSpPr>
            <a:spLocks xmlns:a="http://schemas.openxmlformats.org/drawingml/2006/main" noGrp="1"/>
          </p:cNvSpPr>
          <p:nvPr/>
        </p:nvSpPr>
        <p:spPr>
          <a:xfrm xmlns:a="http://schemas.openxmlformats.org/drawingml/2006/main">
            <a:off x="609600" y="1666875"/>
            <a:ext cx="1076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2033"/>
                </a:solidFill>
                <a:latin typeface="Arial"/>
                <a:ea typeface="Arial"/>
                <a:cs typeface="Arial"/>
              </a:defRPr>
            </a:pPr>
            <a:r>
              <a:rPr sz="2700" b="1">
                <a:solidFill>
                  <a:srgbClr val="172033"/>
                </a:solidFill>
                <a:latin typeface="Arial"/>
                <a:ea typeface="Arial"/>
                <a:cs typeface="Arial"/>
              </a:rPr>
              <a:t>Artwork is the pattern.</a:t>
            </a:r>
          </a:p>
        </p:txBody>
      </p:sp>
      <p:sp>
        <p:nvSpPr>
          <p:cNvPr id="4" name="">
            <a:extLst xmlns:a="http://schemas.openxmlformats.org/drawingml/2006/main">
              <a:ext uri="{FF2B5EF4-FFF2-40B4-BE49-F238E27FC236}">
                <a16:creationId xmlns:a16="http://schemas.microsoft.com/office/drawing/2014/main" id="{F7E3937B-7E34-45E8-8CCF-51A8737C42AB}"/>
              </a:ext>
            </a:extLst>
          </p:cNvPr>
          <p:cNvSpPr>
            <a:spLocks xmlns:a="http://schemas.openxmlformats.org/drawingml/2006/main" noGrp="1"/>
          </p:cNvSpPr>
          <p:nvPr/>
        </p:nvSpPr>
        <p:spPr>
          <a:xfrm xmlns:a="http://schemas.openxmlformats.org/drawingml/2006/main">
            <a:off x="609600" y="2667000"/>
            <a:ext cx="106680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2033"/>
                </a:solidFill>
                <a:latin typeface="Arial"/>
                <a:ea typeface="Arial"/>
                <a:cs typeface="Arial"/>
              </a:defRPr>
            </a:pPr>
            <a:r>
              <a:rPr sz="2400" b="0">
                <a:solidFill>
                  <a:srgbClr val="172033"/>
                </a:solidFill>
                <a:latin typeface="Arial"/>
                <a:ea typeface="Arial"/>
                <a:cs typeface="Arial"/>
              </a:rPr>
              <a:t>Color sections become separate stencil pieces.</a:t>
            </a:r>
          </a:p>
          <a:p xmlns:a="http://schemas.openxmlformats.org/drawingml/2006/main">
            <a:pPr>
              <a:defRPr sz="2400" b="0">
                <a:solidFill>
                  <a:srgbClr val="172033"/>
                </a:solidFill>
                <a:latin typeface="Arial"/>
                <a:ea typeface="Arial"/>
                <a:cs typeface="Arial"/>
              </a:defRPr>
            </a:pPr>
            <a:r>
              <a:rPr sz="2400" b="0">
                <a:solidFill>
                  <a:srgbClr val="172033"/>
                </a:solidFill>
                <a:latin typeface="Arial"/>
                <a:ea typeface="Arial"/>
                <a:cs typeface="Arial"/>
              </a:rPr>
              <a:t>Tracing defines each piece's edge.</a:t>
            </a:r>
          </a:p>
          <a:p xmlns:a="http://schemas.openxmlformats.org/drawingml/2006/main">
            <a:pPr>
              <a:defRPr sz="2400" b="0">
                <a:solidFill>
                  <a:srgbClr val="172033"/>
                </a:solidFill>
                <a:latin typeface="Arial"/>
                <a:ea typeface="Arial"/>
                <a:cs typeface="Arial"/>
              </a:defRPr>
            </a:pPr>
            <a:r>
              <a:rPr sz="2400" b="0">
                <a:solidFill>
                  <a:srgbClr val="172033"/>
                </a:solidFill>
                <a:latin typeface="Arial"/>
                <a:ea typeface="Arial"/>
                <a:cs typeface="Arial"/>
              </a:rPr>
              <a:t>Curve fitting smooths the cutting geometry.</a:t>
            </a:r>
          </a:p>
          <a:p xmlns:a="http://schemas.openxmlformats.org/drawingml/2006/main">
            <a:pPr>
              <a:defRPr sz="2400" b="0">
                <a:solidFill>
                  <a:srgbClr val="172033"/>
                </a:solidFill>
                <a:latin typeface="Arial"/>
                <a:ea typeface="Arial"/>
                <a:cs typeface="Arial"/>
              </a:defRPr>
            </a:pPr>
            <a:r>
              <a:rPr sz="2400" b="0">
                <a:solidFill>
                  <a:srgbClr val="172033"/>
                </a:solidFill>
                <a:latin typeface="Arial"/>
                <a:ea typeface="Arial"/>
                <a:cs typeface="Arial"/>
              </a:rPr>
              <a:t>DXF packages the templates for CAD preparation.</a:t>
            </a:r>
          </a:p>
        </p:txBody>
      </p:sp>
      <p:sp>
        <p:nvSpPr>
          <p:cNvPr id="5" name="">
            <a:extLst xmlns:a="http://schemas.openxmlformats.org/drawingml/2006/main">
              <a:ext uri="{FF2B5EF4-FFF2-40B4-BE49-F238E27FC236}">
                <a16:creationId xmlns:a16="http://schemas.microsoft.com/office/drawing/2014/main" id="{D0B49AFB-BAD9-44EB-B2AB-C45A4E2F1EEA}"/>
              </a:ext>
            </a:extLst>
          </p:cNvPr>
          <p:cNvSpPr>
            <a:spLocks xmlns:a="http://schemas.openxmlformats.org/drawingml/2006/main" noGrp="1"/>
          </p:cNvSpPr>
          <p:nvPr/>
        </p:nvSpPr>
        <p:spPr>
          <a:xfrm xmlns:a="http://schemas.openxmlformats.org/drawingml/2006/main">
            <a:off x="609600" y="5467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177"/>
                </a:solidFill>
                <a:latin typeface="Arial"/>
                <a:ea typeface="Arial"/>
                <a:cs typeface="Arial"/>
              </a:defRPr>
            </a:pPr>
            <a:r>
              <a:rPr sz="1875" b="0">
                <a:solidFill>
                  <a:srgbClr val="526177"/>
                </a:solidFill>
                <a:latin typeface="Arial"/>
                <a:ea typeface="Arial"/>
                <a:cs typeface="Arial"/>
              </a:rPr>
              <a:t>The application prepares geometry; CAD/CAM tools prepare the machine job.</a:t>
            </a:r>
          </a:p>
        </p:txBody>
      </p:sp>
    </p:spTree>
    <p:extLst>
      <p:ext uri="{BB962C8B-B14F-4D97-AF65-F5344CB8AC3E}">
        <p14:creationId xmlns:p14="http://schemas.microsoft.com/office/powerpoint/2010/main" val="1105994542"/>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5B67428-AD8B-4EA8-8D78-E409DDB81E05}"/>
              </a:ext>
            </a:extLst>
          </p:cNvPr>
          <p:cNvSpPr>
            <a:spLocks xmlns:a="http://schemas.openxmlformats.org/drawingml/2006/main" noGrp="1"/>
          </p:cNvSpPr>
          <p:nvPr/>
        </p:nvSpPr>
        <p:spPr>
          <a:xfrm xmlns:a="http://schemas.openxmlformats.org/drawingml/2006/main">
            <a:off x="609600" y="40005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94B"/>
                </a:solidFill>
                <a:latin typeface="Arial"/>
                <a:ea typeface="Arial"/>
                <a:cs typeface="Arial"/>
              </a:defRPr>
            </a:pPr>
            <a:r>
              <a:rPr sz="3450" b="1">
                <a:solidFill>
                  <a:srgbClr val="13294B"/>
                </a:solidFill>
                <a:latin typeface="Arial"/>
                <a:ea typeface="Arial"/>
                <a:cs typeface="Arial"/>
              </a:rPr>
              <a:t>Proposed system architecture</a:t>
            </a:r>
          </a:p>
        </p:txBody>
      </p:sp>
      <p:sp>
        <p:nvSpPr>
          <p:cNvPr id="2" name="">
            <a:extLst xmlns:a="http://schemas.openxmlformats.org/drawingml/2006/main">
              <a:ext uri="{FF2B5EF4-FFF2-40B4-BE49-F238E27FC236}">
                <a16:creationId xmlns:a16="http://schemas.microsoft.com/office/drawing/2014/main" id="{940E43C8-3BBB-421C-9602-9C2811D312C5}"/>
              </a:ext>
            </a:extLst>
          </p:cNvPr>
          <p:cNvSpPr>
            <a:spLocks xmlns:a="http://schemas.openxmlformats.org/drawingml/2006/main" noGrp="1"/>
          </p:cNvSpPr>
          <p:nvPr/>
        </p:nvSpPr>
        <p:spPr>
          <a:xfrm xmlns:a="http://schemas.openxmlformats.org/drawingml/2006/main">
            <a:off x="609600" y="63436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177"/>
                </a:solidFill>
                <a:latin typeface="Arial"/>
                <a:ea typeface="Arial"/>
                <a:cs typeface="Arial"/>
              </a:defRPr>
            </a:pPr>
            <a:r>
              <a:rPr sz="1350" b="0">
                <a:solidFill>
                  <a:srgbClr val="526177"/>
                </a:solidFill>
                <a:latin typeface="Arial"/>
                <a:ea typeface="Arial"/>
                <a:cs typeface="Arial"/>
              </a:rPr>
              <a:t>6   Adcut Logo Vectorizer / Team E</a:t>
            </a:r>
          </a:p>
        </p:txBody>
      </p:sp>
      <p:sp>
        <p:nvSpPr>
          <p:cNvPr id="3" name="">
            <a:extLst xmlns:a="http://schemas.openxmlformats.org/drawingml/2006/main">
              <a:ext uri="{FF2B5EF4-FFF2-40B4-BE49-F238E27FC236}">
                <a16:creationId xmlns:a16="http://schemas.microsoft.com/office/drawing/2014/main" id="{D14C20DC-CC8E-4350-8A18-A06E17034D48}"/>
              </a:ext>
            </a:extLst>
          </p:cNvPr>
          <p:cNvSpPr>
            <a:spLocks xmlns:a="http://schemas.openxmlformats.org/drawingml/2006/main" noGrp="1"/>
          </p:cNvSpPr>
          <p:nvPr/>
        </p:nvSpPr>
        <p:spPr>
          <a:xfrm xmlns:a="http://schemas.openxmlformats.org/drawingml/2006/main">
            <a:off x="609600" y="1428750"/>
            <a:ext cx="3429000" cy="619125"/>
          </a:xfrm>
          <a:prstGeom xmlns:a="http://schemas.openxmlformats.org/drawingml/2006/main" prst="rect">
            <a:avLst/>
          </a:prstGeom>
          <a:solidFill xmlns:a="http://schemas.openxmlformats.org/drawingml/2006/main">
            <a:srgbClr val="D8ECFA"/>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3294B"/>
                </a:solidFill>
                <a:latin typeface="Arial"/>
                <a:ea typeface="Arial"/>
                <a:cs typeface="Arial"/>
              </a:defRPr>
            </a:pPr>
            <a:r>
              <a:rPr sz="2025" b="1">
                <a:solidFill>
                  <a:srgbClr val="13294B"/>
                </a:solidFill>
                <a:latin typeface="Arial"/>
                <a:ea typeface="Arial"/>
                <a:cs typeface="Arial"/>
              </a:rPr>
              <a:t>Streamlit interface</a:t>
            </a:r>
          </a:p>
        </p:txBody>
      </p:sp>
      <p:sp>
        <p:nvSpPr>
          <p:cNvPr id="4" name="">
            <a:extLst xmlns:a="http://schemas.openxmlformats.org/drawingml/2006/main">
              <a:ext uri="{FF2B5EF4-FFF2-40B4-BE49-F238E27FC236}">
                <a16:creationId xmlns:a16="http://schemas.microsoft.com/office/drawing/2014/main" id="{A6D3E586-CC36-41F9-8C85-C7C8C0F67902}"/>
              </a:ext>
            </a:extLst>
          </p:cNvPr>
          <p:cNvSpPr>
            <a:spLocks xmlns:a="http://schemas.openxmlformats.org/drawingml/2006/main" noGrp="1"/>
          </p:cNvSpPr>
          <p:nvPr/>
        </p:nvSpPr>
        <p:spPr>
          <a:xfrm xmlns:a="http://schemas.openxmlformats.org/drawingml/2006/main">
            <a:off x="4381500" y="1428750"/>
            <a:ext cx="712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033"/>
                </a:solidFill>
                <a:latin typeface="Arial"/>
                <a:ea typeface="Arial"/>
                <a:cs typeface="Arial"/>
              </a:defRPr>
            </a:pPr>
            <a:r>
              <a:rPr sz="2025" b="0">
                <a:solidFill>
                  <a:srgbClr val="172033"/>
                </a:solidFill>
                <a:latin typeface="Arial"/>
                <a:ea typeface="Arial"/>
                <a:cs typeface="Arial"/>
              </a:rPr>
              <a:t>Upload, scale settings, status, optional preview</a:t>
            </a:r>
          </a:p>
        </p:txBody>
      </p:sp>
      <p:sp>
        <p:nvSpPr>
          <p:cNvPr id="5" name="">
            <a:extLst xmlns:a="http://schemas.openxmlformats.org/drawingml/2006/main">
              <a:ext uri="{FF2B5EF4-FFF2-40B4-BE49-F238E27FC236}">
                <a16:creationId xmlns:a16="http://schemas.microsoft.com/office/drawing/2014/main" id="{CA29BD34-28B7-40B9-A7BF-7BD2BA52452E}"/>
              </a:ext>
            </a:extLst>
          </p:cNvPr>
          <p:cNvSpPr>
            <a:spLocks xmlns:a="http://schemas.openxmlformats.org/drawingml/2006/main" noGrp="1"/>
          </p:cNvSpPr>
          <p:nvPr/>
        </p:nvSpPr>
        <p:spPr>
          <a:xfrm xmlns:a="http://schemas.openxmlformats.org/drawingml/2006/main">
            <a:off x="2057400" y="20288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4B9CD3"/>
                </a:solidFill>
                <a:latin typeface="Arial"/>
                <a:ea typeface="Arial"/>
                <a:cs typeface="Arial"/>
              </a:defRPr>
            </a:pPr>
            <a:r>
              <a:rPr sz="1500" b="1">
                <a:solidFill>
                  <a:srgbClr val="4B9CD3"/>
                </a:solidFill>
                <a:latin typeface="Arial"/>
                <a:ea typeface="Arial"/>
                <a:cs typeface="Arial"/>
              </a:rPr>
              <a:t>v</a:t>
            </a:r>
          </a:p>
        </p:txBody>
      </p:sp>
      <p:sp>
        <p:nvSpPr>
          <p:cNvPr id="6" name="">
            <a:extLst xmlns:a="http://schemas.openxmlformats.org/drawingml/2006/main">
              <a:ext uri="{FF2B5EF4-FFF2-40B4-BE49-F238E27FC236}">
                <a16:creationId xmlns:a16="http://schemas.microsoft.com/office/drawing/2014/main" id="{DA8F08E0-0868-4EBE-930A-BCB9DA0CCD92}"/>
              </a:ext>
            </a:extLst>
          </p:cNvPr>
          <p:cNvSpPr>
            <a:spLocks xmlns:a="http://schemas.openxmlformats.org/drawingml/2006/main" noGrp="1"/>
          </p:cNvSpPr>
          <p:nvPr/>
        </p:nvSpPr>
        <p:spPr>
          <a:xfrm xmlns:a="http://schemas.openxmlformats.org/drawingml/2006/main">
            <a:off x="609600" y="2305050"/>
            <a:ext cx="3429000" cy="619125"/>
          </a:xfrm>
          <a:prstGeom xmlns:a="http://schemas.openxmlformats.org/drawingml/2006/main" prst="rect">
            <a:avLst/>
          </a:prstGeom>
          <a:solidFill xmlns:a="http://schemas.openxmlformats.org/drawingml/2006/main">
            <a:srgbClr val="D8ECFA"/>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3294B"/>
                </a:solidFill>
                <a:latin typeface="Arial"/>
                <a:ea typeface="Arial"/>
                <a:cs typeface="Arial"/>
              </a:defRPr>
            </a:pPr>
            <a:r>
              <a:rPr sz="2025" b="1">
                <a:solidFill>
                  <a:srgbClr val="13294B"/>
                </a:solidFill>
                <a:latin typeface="Arial"/>
                <a:ea typeface="Arial"/>
                <a:cs typeface="Arial"/>
              </a:rPr>
              <a:t>Input adapters</a:t>
            </a:r>
          </a:p>
        </p:txBody>
      </p:sp>
      <p:sp>
        <p:nvSpPr>
          <p:cNvPr id="7" name="">
            <a:extLst xmlns:a="http://schemas.openxmlformats.org/drawingml/2006/main">
              <a:ext uri="{FF2B5EF4-FFF2-40B4-BE49-F238E27FC236}">
                <a16:creationId xmlns:a16="http://schemas.microsoft.com/office/drawing/2014/main" id="{CDCBB304-D9CD-46FF-8E18-3326C1BA80A0}"/>
              </a:ext>
            </a:extLst>
          </p:cNvPr>
          <p:cNvSpPr>
            <a:spLocks xmlns:a="http://schemas.openxmlformats.org/drawingml/2006/main" noGrp="1"/>
          </p:cNvSpPr>
          <p:nvPr/>
        </p:nvSpPr>
        <p:spPr>
          <a:xfrm xmlns:a="http://schemas.openxmlformats.org/drawingml/2006/main">
            <a:off x="4381500" y="2305050"/>
            <a:ext cx="712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033"/>
                </a:solidFill>
                <a:latin typeface="Arial"/>
                <a:ea typeface="Arial"/>
                <a:cs typeface="Arial"/>
              </a:defRPr>
            </a:pPr>
            <a:r>
              <a:rPr sz="2025" b="0">
                <a:solidFill>
                  <a:srgbClr val="172033"/>
                </a:solidFill>
                <a:latin typeface="Arial"/>
                <a:ea typeface="Arial"/>
                <a:cs typeface="Arial"/>
              </a:rPr>
              <a:t>Pillow images; pypdfium2 PDF import later</a:t>
            </a:r>
          </a:p>
        </p:txBody>
      </p:sp>
      <p:sp>
        <p:nvSpPr>
          <p:cNvPr id="8" name="">
            <a:extLst xmlns:a="http://schemas.openxmlformats.org/drawingml/2006/main">
              <a:ext uri="{FF2B5EF4-FFF2-40B4-BE49-F238E27FC236}">
                <a16:creationId xmlns:a16="http://schemas.microsoft.com/office/drawing/2014/main" id="{EA406A53-239C-40A2-8F24-4E75996D855A}"/>
              </a:ext>
            </a:extLst>
          </p:cNvPr>
          <p:cNvSpPr>
            <a:spLocks xmlns:a="http://schemas.openxmlformats.org/drawingml/2006/main" noGrp="1"/>
          </p:cNvSpPr>
          <p:nvPr/>
        </p:nvSpPr>
        <p:spPr>
          <a:xfrm xmlns:a="http://schemas.openxmlformats.org/drawingml/2006/main">
            <a:off x="2057400" y="29051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4B9CD3"/>
                </a:solidFill>
                <a:latin typeface="Arial"/>
                <a:ea typeface="Arial"/>
                <a:cs typeface="Arial"/>
              </a:defRPr>
            </a:pPr>
            <a:r>
              <a:rPr sz="1500" b="1">
                <a:solidFill>
                  <a:srgbClr val="4B9CD3"/>
                </a:solidFill>
                <a:latin typeface="Arial"/>
                <a:ea typeface="Arial"/>
                <a:cs typeface="Arial"/>
              </a:rPr>
              <a:t>v</a:t>
            </a:r>
          </a:p>
        </p:txBody>
      </p:sp>
      <p:sp>
        <p:nvSpPr>
          <p:cNvPr id="9" name="">
            <a:extLst xmlns:a="http://schemas.openxmlformats.org/drawingml/2006/main">
              <a:ext uri="{FF2B5EF4-FFF2-40B4-BE49-F238E27FC236}">
                <a16:creationId xmlns:a16="http://schemas.microsoft.com/office/drawing/2014/main" id="{309CBAB9-05E2-46F8-99A4-36550ACC9048}"/>
              </a:ext>
            </a:extLst>
          </p:cNvPr>
          <p:cNvSpPr>
            <a:spLocks xmlns:a="http://schemas.openxmlformats.org/drawingml/2006/main" noGrp="1"/>
          </p:cNvSpPr>
          <p:nvPr/>
        </p:nvSpPr>
        <p:spPr>
          <a:xfrm xmlns:a="http://schemas.openxmlformats.org/drawingml/2006/main">
            <a:off x="609600" y="3181350"/>
            <a:ext cx="3429000" cy="619125"/>
          </a:xfrm>
          <a:prstGeom xmlns:a="http://schemas.openxmlformats.org/drawingml/2006/main" prst="rect">
            <a:avLst/>
          </a:prstGeom>
          <a:solidFill xmlns:a="http://schemas.openxmlformats.org/drawingml/2006/main">
            <a:srgbClr val="D8ECFA"/>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3294B"/>
                </a:solidFill>
                <a:latin typeface="Arial"/>
                <a:ea typeface="Arial"/>
                <a:cs typeface="Arial"/>
              </a:defRPr>
            </a:pPr>
            <a:r>
              <a:rPr sz="2025" b="1">
                <a:solidFill>
                  <a:srgbClr val="13294B"/>
                </a:solidFill>
                <a:latin typeface="Arial"/>
                <a:ea typeface="Arial"/>
                <a:cs typeface="Arial"/>
              </a:rPr>
              <a:t>Processing and geometry</a:t>
            </a:r>
          </a:p>
        </p:txBody>
      </p:sp>
      <p:sp>
        <p:nvSpPr>
          <p:cNvPr id="10" name="">
            <a:extLst xmlns:a="http://schemas.openxmlformats.org/drawingml/2006/main">
              <a:ext uri="{FF2B5EF4-FFF2-40B4-BE49-F238E27FC236}">
                <a16:creationId xmlns:a16="http://schemas.microsoft.com/office/drawing/2014/main" id="{E28A8F4C-C614-49DF-AB5D-18C4657AC09E}"/>
              </a:ext>
            </a:extLst>
          </p:cNvPr>
          <p:cNvSpPr>
            <a:spLocks xmlns:a="http://schemas.openxmlformats.org/drawingml/2006/main" noGrp="1"/>
          </p:cNvSpPr>
          <p:nvPr/>
        </p:nvSpPr>
        <p:spPr>
          <a:xfrm xmlns:a="http://schemas.openxmlformats.org/drawingml/2006/main">
            <a:off x="4381500" y="3181350"/>
            <a:ext cx="712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033"/>
                </a:solidFill>
                <a:latin typeface="Arial"/>
                <a:ea typeface="Arial"/>
                <a:cs typeface="Arial"/>
              </a:defRPr>
            </a:pPr>
            <a:r>
              <a:rPr sz="2025" b="0">
                <a:solidFill>
                  <a:srgbClr val="172033"/>
                </a:solidFill>
                <a:latin typeface="Arial"/>
                <a:ea typeface="Arial"/>
                <a:cs typeface="Arial"/>
              </a:rPr>
              <a:t>OpenCV segmentation and contours; curve fitting to develop</a:t>
            </a:r>
          </a:p>
        </p:txBody>
      </p:sp>
      <p:sp>
        <p:nvSpPr>
          <p:cNvPr id="11" name="">
            <a:extLst xmlns:a="http://schemas.openxmlformats.org/drawingml/2006/main">
              <a:ext uri="{FF2B5EF4-FFF2-40B4-BE49-F238E27FC236}">
                <a16:creationId xmlns:a16="http://schemas.microsoft.com/office/drawing/2014/main" id="{CEFCFFD6-B500-4C14-8317-BF373B386AF2}"/>
              </a:ext>
            </a:extLst>
          </p:cNvPr>
          <p:cNvSpPr>
            <a:spLocks xmlns:a="http://schemas.openxmlformats.org/drawingml/2006/main" noGrp="1"/>
          </p:cNvSpPr>
          <p:nvPr/>
        </p:nvSpPr>
        <p:spPr>
          <a:xfrm xmlns:a="http://schemas.openxmlformats.org/drawingml/2006/main">
            <a:off x="2057400" y="37814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4B9CD3"/>
                </a:solidFill>
                <a:latin typeface="Arial"/>
                <a:ea typeface="Arial"/>
                <a:cs typeface="Arial"/>
              </a:defRPr>
            </a:pPr>
            <a:r>
              <a:rPr sz="1500" b="1">
                <a:solidFill>
                  <a:srgbClr val="4B9CD3"/>
                </a:solidFill>
                <a:latin typeface="Arial"/>
                <a:ea typeface="Arial"/>
                <a:cs typeface="Arial"/>
              </a:rPr>
              <a:t>v</a:t>
            </a:r>
          </a:p>
        </p:txBody>
      </p:sp>
      <p:sp>
        <p:nvSpPr>
          <p:cNvPr id="12" name="">
            <a:extLst xmlns:a="http://schemas.openxmlformats.org/drawingml/2006/main">
              <a:ext uri="{FF2B5EF4-FFF2-40B4-BE49-F238E27FC236}">
                <a16:creationId xmlns:a16="http://schemas.microsoft.com/office/drawing/2014/main" id="{33C21EDD-F129-4FC9-832C-88E7815B1B2F}"/>
              </a:ext>
            </a:extLst>
          </p:cNvPr>
          <p:cNvSpPr>
            <a:spLocks xmlns:a="http://schemas.openxmlformats.org/drawingml/2006/main" noGrp="1"/>
          </p:cNvSpPr>
          <p:nvPr/>
        </p:nvSpPr>
        <p:spPr>
          <a:xfrm xmlns:a="http://schemas.openxmlformats.org/drawingml/2006/main">
            <a:off x="609600" y="4057650"/>
            <a:ext cx="3429000" cy="619125"/>
          </a:xfrm>
          <a:prstGeom xmlns:a="http://schemas.openxmlformats.org/drawingml/2006/main" prst="rect">
            <a:avLst/>
          </a:prstGeom>
          <a:solidFill xmlns:a="http://schemas.openxmlformats.org/drawingml/2006/main">
            <a:srgbClr val="D8ECFA"/>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3294B"/>
                </a:solidFill>
                <a:latin typeface="Arial"/>
                <a:ea typeface="Arial"/>
                <a:cs typeface="Arial"/>
              </a:defRPr>
            </a:pPr>
            <a:r>
              <a:rPr sz="2025" b="1">
                <a:solidFill>
                  <a:srgbClr val="13294B"/>
                </a:solidFill>
                <a:latin typeface="Arial"/>
                <a:ea typeface="Arial"/>
                <a:cs typeface="Arial"/>
              </a:rPr>
              <a:t>CAD export</a:t>
            </a:r>
          </a:p>
        </p:txBody>
      </p:sp>
      <p:sp>
        <p:nvSpPr>
          <p:cNvPr id="13" name="">
            <a:extLst xmlns:a="http://schemas.openxmlformats.org/drawingml/2006/main">
              <a:ext uri="{FF2B5EF4-FFF2-40B4-BE49-F238E27FC236}">
                <a16:creationId xmlns:a16="http://schemas.microsoft.com/office/drawing/2014/main" id="{9D5A931B-B530-494F-8F41-FDE8403310CA}"/>
              </a:ext>
            </a:extLst>
          </p:cNvPr>
          <p:cNvSpPr>
            <a:spLocks xmlns:a="http://schemas.openxmlformats.org/drawingml/2006/main" noGrp="1"/>
          </p:cNvSpPr>
          <p:nvPr/>
        </p:nvSpPr>
        <p:spPr>
          <a:xfrm xmlns:a="http://schemas.openxmlformats.org/drawingml/2006/main">
            <a:off x="4381500" y="4057650"/>
            <a:ext cx="712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033"/>
                </a:solidFill>
                <a:latin typeface="Arial"/>
                <a:ea typeface="Arial"/>
                <a:cs typeface="Arial"/>
              </a:defRPr>
            </a:pPr>
            <a:r>
              <a:rPr sz="2025" b="0">
                <a:solidFill>
                  <a:srgbClr val="172033"/>
                </a:solidFill>
                <a:latin typeface="Arial"/>
                <a:ea typeface="Arial"/>
                <a:cs typeface="Arial"/>
              </a:rPr>
              <a:t>ezdxf native entities; SVG fallback to implement</a:t>
            </a:r>
          </a:p>
        </p:txBody>
      </p:sp>
      <p:sp>
        <p:nvSpPr>
          <p:cNvPr id="14" name="">
            <a:extLst xmlns:a="http://schemas.openxmlformats.org/drawingml/2006/main">
              <a:ext uri="{FF2B5EF4-FFF2-40B4-BE49-F238E27FC236}">
                <a16:creationId xmlns:a16="http://schemas.microsoft.com/office/drawing/2014/main" id="{6B5A2601-60B1-4071-94FB-98B754479DAB}"/>
              </a:ext>
            </a:extLst>
          </p:cNvPr>
          <p:cNvSpPr>
            <a:spLocks xmlns:a="http://schemas.openxmlformats.org/drawingml/2006/main" noGrp="1"/>
          </p:cNvSpPr>
          <p:nvPr/>
        </p:nvSpPr>
        <p:spPr>
          <a:xfrm xmlns:a="http://schemas.openxmlformats.org/drawingml/2006/main">
            <a:off x="2057400" y="46577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4B9CD3"/>
                </a:solidFill>
                <a:latin typeface="Arial"/>
                <a:ea typeface="Arial"/>
                <a:cs typeface="Arial"/>
              </a:defRPr>
            </a:pPr>
            <a:r>
              <a:rPr sz="1500" b="1">
                <a:solidFill>
                  <a:srgbClr val="4B9CD3"/>
                </a:solidFill>
                <a:latin typeface="Arial"/>
                <a:ea typeface="Arial"/>
                <a:cs typeface="Arial"/>
              </a:rPr>
              <a:t>v</a:t>
            </a:r>
          </a:p>
        </p:txBody>
      </p:sp>
      <p:sp>
        <p:nvSpPr>
          <p:cNvPr id="15" name="">
            <a:extLst xmlns:a="http://schemas.openxmlformats.org/drawingml/2006/main">
              <a:ext uri="{FF2B5EF4-FFF2-40B4-BE49-F238E27FC236}">
                <a16:creationId xmlns:a16="http://schemas.microsoft.com/office/drawing/2014/main" id="{64DC4EC2-75D0-41B0-A1A6-A889AE03F07F}"/>
              </a:ext>
            </a:extLst>
          </p:cNvPr>
          <p:cNvSpPr>
            <a:spLocks xmlns:a="http://schemas.openxmlformats.org/drawingml/2006/main" noGrp="1"/>
          </p:cNvSpPr>
          <p:nvPr/>
        </p:nvSpPr>
        <p:spPr>
          <a:xfrm xmlns:a="http://schemas.openxmlformats.org/drawingml/2006/main">
            <a:off x="609600" y="4933950"/>
            <a:ext cx="3429000" cy="619125"/>
          </a:xfrm>
          <a:prstGeom xmlns:a="http://schemas.openxmlformats.org/drawingml/2006/main" prst="rect">
            <a:avLst/>
          </a:prstGeom>
          <a:solidFill xmlns:a="http://schemas.openxmlformats.org/drawingml/2006/main">
            <a:srgbClr val="D8ECFA"/>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3294B"/>
                </a:solidFill>
                <a:latin typeface="Arial"/>
                <a:ea typeface="Arial"/>
                <a:cs typeface="Arial"/>
              </a:defRPr>
            </a:pPr>
            <a:r>
              <a:rPr sz="2025" b="1">
                <a:solidFill>
                  <a:srgbClr val="13294B"/>
                </a:solidFill>
                <a:latin typeface="Arial"/>
                <a:ea typeface="Arial"/>
                <a:cs typeface="Arial"/>
              </a:rPr>
              <a:t>External validation</a:t>
            </a:r>
          </a:p>
        </p:txBody>
      </p:sp>
      <p:sp>
        <p:nvSpPr>
          <p:cNvPr id="16" name="">
            <a:extLst xmlns:a="http://schemas.openxmlformats.org/drawingml/2006/main">
              <a:ext uri="{FF2B5EF4-FFF2-40B4-BE49-F238E27FC236}">
                <a16:creationId xmlns:a16="http://schemas.microsoft.com/office/drawing/2014/main" id="{59D082C4-C088-408B-9723-8E8793588F56}"/>
              </a:ext>
            </a:extLst>
          </p:cNvPr>
          <p:cNvSpPr>
            <a:spLocks xmlns:a="http://schemas.openxmlformats.org/drawingml/2006/main" noGrp="1"/>
          </p:cNvSpPr>
          <p:nvPr/>
        </p:nvSpPr>
        <p:spPr>
          <a:xfrm xmlns:a="http://schemas.openxmlformats.org/drawingml/2006/main">
            <a:off x="4381500" y="4933950"/>
            <a:ext cx="712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033"/>
                </a:solidFill>
                <a:latin typeface="Arial"/>
                <a:ea typeface="Arial"/>
                <a:cs typeface="Arial"/>
              </a:defRPr>
            </a:pPr>
            <a:r>
              <a:rPr sz="2025" b="0">
                <a:solidFill>
                  <a:srgbClr val="172033"/>
                </a:solidFill>
                <a:latin typeface="Arial"/>
                <a:ea typeface="Arial"/>
                <a:cs typeface="Arial"/>
              </a:rPr>
              <a:t>AutoCAD / IGEMS import and Adcut acceptance</a:t>
            </a:r>
          </a:p>
        </p:txBody>
      </p:sp>
    </p:spTree>
    <p:extLst>
      <p:ext uri="{BB962C8B-B14F-4D97-AF65-F5344CB8AC3E}">
        <p14:creationId xmlns:p14="http://schemas.microsoft.com/office/powerpoint/2010/main" val="218977860"/>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78FB0A3-6985-4CE6-B16B-AB412EE559BF}"/>
              </a:ext>
            </a:extLst>
          </p:cNvPr>
          <p:cNvSpPr>
            <a:spLocks xmlns:a="http://schemas.openxmlformats.org/drawingml/2006/main" noGrp="1"/>
          </p:cNvSpPr>
          <p:nvPr/>
        </p:nvSpPr>
        <p:spPr>
          <a:xfrm xmlns:a="http://schemas.openxmlformats.org/drawingml/2006/main">
            <a:off x="609600" y="40005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94B"/>
                </a:solidFill>
                <a:latin typeface="Arial"/>
                <a:ea typeface="Arial"/>
                <a:cs typeface="Arial"/>
              </a:defRPr>
            </a:pPr>
            <a:r>
              <a:rPr sz="3450" b="1">
                <a:solidFill>
                  <a:srgbClr val="13294B"/>
                </a:solidFill>
                <a:latin typeface="Arial"/>
                <a:ea typeface="Arial"/>
                <a:cs typeface="Arial"/>
              </a:rPr>
              <a:t>Selected starting platform</a:t>
            </a:r>
          </a:p>
        </p:txBody>
      </p:sp>
      <p:sp>
        <p:nvSpPr>
          <p:cNvPr id="2" name="">
            <a:extLst xmlns:a="http://schemas.openxmlformats.org/drawingml/2006/main">
              <a:ext uri="{FF2B5EF4-FFF2-40B4-BE49-F238E27FC236}">
                <a16:creationId xmlns:a16="http://schemas.microsoft.com/office/drawing/2014/main" id="{6B5181DA-0CB2-4666-BBDC-6493ACD2FA4A}"/>
              </a:ext>
            </a:extLst>
          </p:cNvPr>
          <p:cNvSpPr>
            <a:spLocks xmlns:a="http://schemas.openxmlformats.org/drawingml/2006/main" noGrp="1"/>
          </p:cNvSpPr>
          <p:nvPr/>
        </p:nvSpPr>
        <p:spPr>
          <a:xfrm xmlns:a="http://schemas.openxmlformats.org/drawingml/2006/main">
            <a:off x="609600" y="63436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177"/>
                </a:solidFill>
                <a:latin typeface="Arial"/>
                <a:ea typeface="Arial"/>
                <a:cs typeface="Arial"/>
              </a:defRPr>
            </a:pPr>
            <a:r>
              <a:rPr sz="1350" b="0">
                <a:solidFill>
                  <a:srgbClr val="526177"/>
                </a:solidFill>
                <a:latin typeface="Arial"/>
                <a:ea typeface="Arial"/>
                <a:cs typeface="Arial"/>
              </a:rPr>
              <a:t>7   Adcut Logo Vectorizer / Team E</a:t>
            </a:r>
          </a:p>
        </p:txBody>
      </p:sp>
      <p:sp>
        <p:nvSpPr>
          <p:cNvPr id="3" name="">
            <a:extLst xmlns:a="http://schemas.openxmlformats.org/drawingml/2006/main">
              <a:ext uri="{FF2B5EF4-FFF2-40B4-BE49-F238E27FC236}">
                <a16:creationId xmlns:a16="http://schemas.microsoft.com/office/drawing/2014/main" id="{06185C66-9982-4779-B699-B227DA38FB33}"/>
              </a:ext>
            </a:extLst>
          </p:cNvPr>
          <p:cNvSpPr>
            <a:spLocks xmlns:a="http://schemas.openxmlformats.org/drawingml/2006/main" noGrp="1"/>
          </p:cNvSpPr>
          <p:nvPr/>
        </p:nvSpPr>
        <p:spPr>
          <a:xfrm xmlns:a="http://schemas.openxmlformats.org/drawingml/2006/main">
            <a:off x="609600" y="16192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3294B"/>
                </a:solidFill>
                <a:latin typeface="Arial"/>
                <a:ea typeface="Arial"/>
                <a:cs typeface="Arial"/>
              </a:defRPr>
            </a:pPr>
            <a:r>
              <a:rPr sz="2700" b="1">
                <a:solidFill>
                  <a:srgbClr val="13294B"/>
                </a:solidFill>
                <a:latin typeface="Arial"/>
                <a:ea typeface="Arial"/>
                <a:cs typeface="Arial"/>
              </a:rPr>
              <a:t>Python 3.11 / Streamlit / Windows</a:t>
            </a:r>
          </a:p>
        </p:txBody>
      </p:sp>
      <p:sp>
        <p:nvSpPr>
          <p:cNvPr id="4" name="">
            <a:extLst xmlns:a="http://schemas.openxmlformats.org/drawingml/2006/main">
              <a:ext uri="{FF2B5EF4-FFF2-40B4-BE49-F238E27FC236}">
                <a16:creationId xmlns:a16="http://schemas.microsoft.com/office/drawing/2014/main" id="{54681B8C-EEFF-4FD8-8CD9-4E45A9B838DD}"/>
              </a:ext>
            </a:extLst>
          </p:cNvPr>
          <p:cNvSpPr>
            <a:spLocks xmlns:a="http://schemas.openxmlformats.org/drawingml/2006/main" noGrp="1"/>
          </p:cNvSpPr>
          <p:nvPr/>
        </p:nvSpPr>
        <p:spPr>
          <a:xfrm xmlns:a="http://schemas.openxmlformats.org/drawingml/2006/main">
            <a:off x="609600" y="2628900"/>
            <a:ext cx="10763250" cy="2809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033"/>
                </a:solidFill>
                <a:latin typeface="Arial"/>
                <a:ea typeface="Arial"/>
                <a:cs typeface="Arial"/>
              </a:defRPr>
            </a:pPr>
            <a:r>
              <a:rPr sz="2250" b="0">
                <a:solidFill>
                  <a:srgbClr val="172033"/>
                </a:solidFill>
                <a:latin typeface="Arial"/>
                <a:ea typeface="Arial"/>
                <a:cs typeface="Arial"/>
              </a:rPr>
              <a:t>OpenCV + NumPy: segmentation and contours</a:t>
            </a:r>
          </a:p>
          <a:p xmlns:a="http://schemas.openxmlformats.org/drawingml/2006/main">
            <a:pPr>
              <a:defRPr sz="2250" b="0">
                <a:solidFill>
                  <a:srgbClr val="172033"/>
                </a:solidFill>
                <a:latin typeface="Arial"/>
                <a:ea typeface="Arial"/>
                <a:cs typeface="Arial"/>
              </a:defRPr>
            </a:pPr>
            <a:r>
              <a:rPr sz="2250" b="0">
                <a:solidFill>
                  <a:srgbClr val="172033"/>
                </a:solidFill>
                <a:latin typeface="Arial"/>
                <a:ea typeface="Arial"/>
                <a:cs typeface="Arial"/>
              </a:rPr>
              <a:t>Pillow: image decoding; pypdfium2: later PDF import</a:t>
            </a:r>
          </a:p>
          <a:p xmlns:a="http://schemas.openxmlformats.org/drawingml/2006/main">
            <a:pPr>
              <a:defRPr sz="2250" b="0">
                <a:solidFill>
                  <a:srgbClr val="172033"/>
                </a:solidFill>
                <a:latin typeface="Arial"/>
                <a:ea typeface="Arial"/>
                <a:cs typeface="Arial"/>
              </a:defRPr>
            </a:pPr>
            <a:r>
              <a:rPr sz="2250" b="0">
                <a:solidFill>
                  <a:srgbClr val="172033"/>
                </a:solidFill>
                <a:latin typeface="Arial"/>
                <a:ea typeface="Arial"/>
                <a:cs typeface="Arial"/>
              </a:rPr>
              <a:t>ezdxf: DXF serialization</a:t>
            </a:r>
          </a:p>
          <a:p xmlns:a="http://schemas.openxmlformats.org/drawingml/2006/main">
            <a:pPr>
              <a:defRPr sz="2250" b="0">
                <a:solidFill>
                  <a:srgbClr val="172033"/>
                </a:solidFill>
                <a:latin typeface="Arial"/>
                <a:ea typeface="Arial"/>
                <a:cs typeface="Arial"/>
              </a:defRPr>
            </a:pPr>
            <a:r>
              <a:rPr sz="2250" b="0">
                <a:solidFill>
                  <a:srgbClr val="172033"/>
                </a:solidFill>
                <a:latin typeface="Arial"/>
                <a:ea typeface="Arial"/>
                <a:cs typeface="Arial"/>
              </a:rPr>
              <a:t>VS Code + GitHub: development and review</a:t>
            </a:r>
          </a:p>
          <a:p xmlns:a="http://schemas.openxmlformats.org/drawingml/2006/main">
            <a:pPr>
              <a:defRPr sz="2250" b="0">
                <a:solidFill>
                  <a:srgbClr val="172033"/>
                </a:solidFill>
                <a:latin typeface="Arial"/>
                <a:ea typeface="Arial"/>
                <a:cs typeface="Arial"/>
              </a:defRPr>
            </a:pPr>
            <a:r>
              <a:rPr sz="2250" b="0">
                <a:solidFill>
                  <a:srgbClr val="172033"/>
                </a:solidFill>
                <a:latin typeface="Arial"/>
                <a:ea typeface="Arial"/>
                <a:cs typeface="Arial"/>
              </a:rPr>
              <a:t>pytest + Ruff: tests and code checks</a:t>
            </a:r>
          </a:p>
        </p:txBody>
      </p:sp>
      <p:sp>
        <p:nvSpPr>
          <p:cNvPr id="5" name="">
            <a:extLst xmlns:a="http://schemas.openxmlformats.org/drawingml/2006/main">
              <a:ext uri="{FF2B5EF4-FFF2-40B4-BE49-F238E27FC236}">
                <a16:creationId xmlns:a16="http://schemas.microsoft.com/office/drawing/2014/main" id="{D7166585-64EF-4B9E-ACE1-00CF2FB46139}"/>
              </a:ext>
            </a:extLst>
          </p:cNvPr>
          <p:cNvSpPr>
            <a:spLocks xmlns:a="http://schemas.openxmlformats.org/drawingml/2006/main" noGrp="1"/>
          </p:cNvSpPr>
          <p:nvPr/>
        </p:nvSpPr>
        <p:spPr>
          <a:xfrm xmlns:a="http://schemas.openxmlformats.org/drawingml/2006/main">
            <a:off x="609600" y="563880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177"/>
                </a:solidFill>
                <a:latin typeface="Arial"/>
                <a:ea typeface="Arial"/>
                <a:cs typeface="Arial"/>
              </a:defRPr>
            </a:pPr>
            <a:r>
              <a:rPr sz="1875" b="0">
                <a:solidFill>
                  <a:srgbClr val="526177"/>
                </a:solidFill>
                <a:latin typeface="Arial"/>
                <a:ea typeface="Arial"/>
                <a:cs typeface="Arial"/>
              </a:rPr>
              <a:t>Local first. Cloud hosting remains an option. Native DWG is not included.</a:t>
            </a:r>
          </a:p>
        </p:txBody>
      </p:sp>
    </p:spTree>
    <p:extLst>
      <p:ext uri="{BB962C8B-B14F-4D97-AF65-F5344CB8AC3E}">
        <p14:creationId xmlns:p14="http://schemas.microsoft.com/office/powerpoint/2010/main" val="1997547894"/>
      </p:ext>
    </p:extLst>
  </p:cSld>
</p:sld>
</file>

<file path=ppt/slides/slide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41C5366-31DC-46B9-88C7-FB0F880E59F1}"/>
              </a:ext>
            </a:extLst>
          </p:cNvPr>
          <p:cNvSpPr>
            <a:spLocks xmlns:a="http://schemas.openxmlformats.org/drawingml/2006/main" noGrp="1"/>
          </p:cNvSpPr>
          <p:nvPr/>
        </p:nvSpPr>
        <p:spPr>
          <a:xfrm xmlns:a="http://schemas.openxmlformats.org/drawingml/2006/main">
            <a:off x="609600" y="40005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94B"/>
                </a:solidFill>
                <a:latin typeface="Arial"/>
                <a:ea typeface="Arial"/>
                <a:cs typeface="Arial"/>
              </a:defRPr>
            </a:pPr>
            <a:r>
              <a:rPr sz="3450" b="1">
                <a:solidFill>
                  <a:srgbClr val="13294B"/>
                </a:solidFill>
                <a:latin typeface="Arial"/>
                <a:ea typeface="Arial"/>
                <a:cs typeface="Arial"/>
              </a:rPr>
              <a:t>Progress and next validation</a:t>
            </a:r>
          </a:p>
        </p:txBody>
      </p:sp>
      <p:sp>
        <p:nvSpPr>
          <p:cNvPr id="2" name="">
            <a:extLst xmlns:a="http://schemas.openxmlformats.org/drawingml/2006/main">
              <a:ext uri="{FF2B5EF4-FFF2-40B4-BE49-F238E27FC236}">
                <a16:creationId xmlns:a16="http://schemas.microsoft.com/office/drawing/2014/main" id="{1B72DF02-7766-4A43-AA82-E76665340342}"/>
              </a:ext>
            </a:extLst>
          </p:cNvPr>
          <p:cNvSpPr>
            <a:spLocks xmlns:a="http://schemas.openxmlformats.org/drawingml/2006/main" noGrp="1"/>
          </p:cNvSpPr>
          <p:nvPr/>
        </p:nvSpPr>
        <p:spPr>
          <a:xfrm xmlns:a="http://schemas.openxmlformats.org/drawingml/2006/main">
            <a:off x="609600" y="63436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177"/>
                </a:solidFill>
                <a:latin typeface="Arial"/>
                <a:ea typeface="Arial"/>
                <a:cs typeface="Arial"/>
              </a:defRPr>
            </a:pPr>
            <a:r>
              <a:rPr sz="1350" b="0">
                <a:solidFill>
                  <a:srgbClr val="526177"/>
                </a:solidFill>
                <a:latin typeface="Arial"/>
                <a:ea typeface="Arial"/>
                <a:cs typeface="Arial"/>
              </a:rPr>
              <a:t>8   Adcut Logo Vectorizer / Team E</a:t>
            </a:r>
          </a:p>
        </p:txBody>
      </p:sp>
      <p:sp>
        <p:nvSpPr>
          <p:cNvPr id="3" name="">
            <a:extLst xmlns:a="http://schemas.openxmlformats.org/drawingml/2006/main">
              <a:ext uri="{FF2B5EF4-FFF2-40B4-BE49-F238E27FC236}">
                <a16:creationId xmlns:a16="http://schemas.microsoft.com/office/drawing/2014/main" id="{6A9A8EF6-BF45-4D57-B55C-4FE53D003264}"/>
              </a:ext>
            </a:extLst>
          </p:cNvPr>
          <p:cNvSpPr>
            <a:spLocks xmlns:a="http://schemas.openxmlformats.org/drawingml/2006/main" noGrp="1"/>
          </p:cNvSpPr>
          <p:nvPr/>
        </p:nvSpPr>
        <p:spPr>
          <a:xfrm xmlns:a="http://schemas.openxmlformats.org/drawingml/2006/main">
            <a:off x="609600" y="1524000"/>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94B"/>
                </a:solidFill>
                <a:latin typeface="Arial"/>
                <a:ea typeface="Arial"/>
                <a:cs typeface="Arial"/>
              </a:defRPr>
            </a:pPr>
            <a:r>
              <a:rPr sz="2550" b="1">
                <a:solidFill>
                  <a:srgbClr val="13294B"/>
                </a:solidFill>
                <a:latin typeface="Arial"/>
                <a:ea typeface="Arial"/>
                <a:cs typeface="Arial"/>
              </a:rPr>
              <a:t>Prepared</a:t>
            </a:r>
          </a:p>
        </p:txBody>
      </p:sp>
      <p:sp>
        <p:nvSpPr>
          <p:cNvPr id="4" name="">
            <a:extLst xmlns:a="http://schemas.openxmlformats.org/drawingml/2006/main">
              <a:ext uri="{FF2B5EF4-FFF2-40B4-BE49-F238E27FC236}">
                <a16:creationId xmlns:a16="http://schemas.microsoft.com/office/drawing/2014/main" id="{C95B8926-8BD4-41D5-812B-351D2E42ADA4}"/>
              </a:ext>
            </a:extLst>
          </p:cNvPr>
          <p:cNvSpPr>
            <a:spLocks xmlns:a="http://schemas.openxmlformats.org/drawingml/2006/main" noGrp="1"/>
          </p:cNvSpPr>
          <p:nvPr/>
        </p:nvSpPr>
        <p:spPr>
          <a:xfrm xmlns:a="http://schemas.openxmlformats.org/drawingml/2006/main">
            <a:off x="609600" y="2219325"/>
            <a:ext cx="509587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033"/>
                </a:solidFill>
                <a:latin typeface="Arial"/>
                <a:ea typeface="Arial"/>
                <a:cs typeface="Arial"/>
              </a:defRPr>
            </a:pPr>
            <a:r>
              <a:rPr sz="2175" b="0">
                <a:solidFill>
                  <a:srgbClr val="172033"/>
                </a:solidFill>
                <a:latin typeface="Arial"/>
                <a:ea typeface="Arial"/>
                <a:cs typeface="Arial"/>
              </a:rPr>
              <a:t>Updated specifications</a:t>
            </a:r>
          </a:p>
          <a:p xmlns:a="http://schemas.openxmlformats.org/drawingml/2006/main">
            <a:pPr>
              <a:defRPr sz="2175" b="0">
                <a:solidFill>
                  <a:srgbClr val="172033"/>
                </a:solidFill>
                <a:latin typeface="Arial"/>
                <a:ea typeface="Arial"/>
                <a:cs typeface="Arial"/>
              </a:defRPr>
            </a:pPr>
            <a:r>
              <a:rPr sz="2175" b="0">
                <a:solidFill>
                  <a:srgbClr val="172033"/>
                </a:solidFill>
                <a:latin typeface="Arial"/>
                <a:ea typeface="Arial"/>
                <a:cs typeface="Arial"/>
              </a:rPr>
              <a:t>Architecture and interface design</a:t>
            </a:r>
          </a:p>
          <a:p xmlns:a="http://schemas.openxmlformats.org/drawingml/2006/main">
            <a:pPr>
              <a:defRPr sz="2175" b="0">
                <a:solidFill>
                  <a:srgbClr val="172033"/>
                </a:solidFill>
                <a:latin typeface="Arial"/>
                <a:ea typeface="Arial"/>
                <a:cs typeface="Arial"/>
              </a:defRPr>
            </a:pPr>
            <a:r>
              <a:rPr sz="2175" b="0">
                <a:solidFill>
                  <a:srgbClr val="172033"/>
                </a:solidFill>
                <a:latin typeface="Arial"/>
                <a:ea typeface="Arial"/>
                <a:cs typeface="Arial"/>
              </a:rPr>
              <a:t>Selected development platform</a:t>
            </a:r>
          </a:p>
          <a:p xmlns:a="http://schemas.openxmlformats.org/drawingml/2006/main">
            <a:pPr>
              <a:defRPr sz="2175" b="0">
                <a:solidFill>
                  <a:srgbClr val="172033"/>
                </a:solidFill>
                <a:latin typeface="Arial"/>
                <a:ea typeface="Arial"/>
                <a:cs typeface="Arial"/>
              </a:defRPr>
            </a:pPr>
            <a:r>
              <a:rPr sz="2175" b="0">
                <a:solidFill>
                  <a:srgbClr val="172033"/>
                </a:solidFill>
                <a:latin typeface="Arial"/>
                <a:ea typeface="Arial"/>
                <a:cs typeface="Arial"/>
              </a:rPr>
              <a:t>DXF foundation: 7 passing tests</a:t>
            </a:r>
          </a:p>
        </p:txBody>
      </p:sp>
      <p:sp>
        <p:nvSpPr>
          <p:cNvPr id="5" name="">
            <a:extLst xmlns:a="http://schemas.openxmlformats.org/drawingml/2006/main">
              <a:ext uri="{FF2B5EF4-FFF2-40B4-BE49-F238E27FC236}">
                <a16:creationId xmlns:a16="http://schemas.microsoft.com/office/drawing/2014/main" id="{4EBB3CBB-D36B-448D-8D37-436CAD871FB5}"/>
              </a:ext>
            </a:extLst>
          </p:cNvPr>
          <p:cNvSpPr>
            <a:spLocks xmlns:a="http://schemas.openxmlformats.org/drawingml/2006/main" noGrp="1"/>
          </p:cNvSpPr>
          <p:nvPr/>
        </p:nvSpPr>
        <p:spPr>
          <a:xfrm xmlns:a="http://schemas.openxmlformats.org/drawingml/2006/main">
            <a:off x="6477000" y="1524000"/>
            <a:ext cx="5095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94B"/>
                </a:solidFill>
                <a:latin typeface="Arial"/>
                <a:ea typeface="Arial"/>
                <a:cs typeface="Arial"/>
              </a:defRPr>
            </a:pPr>
            <a:r>
              <a:rPr sz="2550" b="1">
                <a:solidFill>
                  <a:srgbClr val="13294B"/>
                </a:solidFill>
                <a:latin typeface="Arial"/>
                <a:ea typeface="Arial"/>
                <a:cs typeface="Arial"/>
              </a:rPr>
              <a:t>Still to complete</a:t>
            </a:r>
          </a:p>
        </p:txBody>
      </p:sp>
      <p:sp>
        <p:nvSpPr>
          <p:cNvPr id="6" name="">
            <a:extLst xmlns:a="http://schemas.openxmlformats.org/drawingml/2006/main">
              <a:ext uri="{FF2B5EF4-FFF2-40B4-BE49-F238E27FC236}">
                <a16:creationId xmlns:a16="http://schemas.microsoft.com/office/drawing/2014/main" id="{CFC1F812-A3C3-4B54-8D6F-0DF29B194EAF}"/>
              </a:ext>
            </a:extLst>
          </p:cNvPr>
          <p:cNvSpPr>
            <a:spLocks xmlns:a="http://schemas.openxmlformats.org/drawingml/2006/main" noGrp="1"/>
          </p:cNvSpPr>
          <p:nvPr/>
        </p:nvSpPr>
        <p:spPr>
          <a:xfrm xmlns:a="http://schemas.openxmlformats.org/drawingml/2006/main">
            <a:off x="6477000" y="2219325"/>
            <a:ext cx="509587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033"/>
                </a:solidFill>
                <a:latin typeface="Arial"/>
                <a:ea typeface="Arial"/>
                <a:cs typeface="Arial"/>
              </a:defRPr>
            </a:pPr>
            <a:r>
              <a:rPr sz="2175" b="0">
                <a:solidFill>
                  <a:srgbClr val="172033"/>
                </a:solidFill>
                <a:latin typeface="Arial"/>
                <a:ea typeface="Arial"/>
                <a:cs typeface="Arial"/>
              </a:rPr>
              <a:t>Image-to-DXF implementation</a:t>
            </a:r>
          </a:p>
          <a:p xmlns:a="http://schemas.openxmlformats.org/drawingml/2006/main">
            <a:pPr>
              <a:defRPr sz="2175" b="0">
                <a:solidFill>
                  <a:srgbClr val="172033"/>
                </a:solidFill>
                <a:latin typeface="Arial"/>
                <a:ea typeface="Arial"/>
                <a:cs typeface="Arial"/>
              </a:defRPr>
            </a:pPr>
            <a:r>
              <a:rPr sz="2175" b="0">
                <a:solidFill>
                  <a:srgbClr val="172033"/>
                </a:solidFill>
                <a:latin typeface="Arial"/>
                <a:ea typeface="Arial"/>
                <a:cs typeface="Arial"/>
              </a:rPr>
              <a:t>Samples and output conventions</a:t>
            </a:r>
          </a:p>
          <a:p xmlns:a="http://schemas.openxmlformats.org/drawingml/2006/main">
            <a:pPr>
              <a:defRPr sz="2175" b="0">
                <a:solidFill>
                  <a:srgbClr val="172033"/>
                </a:solidFill>
                <a:latin typeface="Arial"/>
                <a:ea typeface="Arial"/>
                <a:cs typeface="Arial"/>
              </a:defRPr>
            </a:pPr>
            <a:r>
              <a:rPr sz="2175" b="0">
                <a:solidFill>
                  <a:srgbClr val="172033"/>
                </a:solidFill>
                <a:latin typeface="Arial"/>
                <a:ea typeface="Arial"/>
                <a:cs typeface="Arial"/>
              </a:rPr>
              <a:t>Curve fitting and shared boundaries</a:t>
            </a:r>
          </a:p>
          <a:p xmlns:a="http://schemas.openxmlformats.org/drawingml/2006/main">
            <a:pPr>
              <a:defRPr sz="2175" b="0">
                <a:solidFill>
                  <a:srgbClr val="172033"/>
                </a:solidFill>
                <a:latin typeface="Arial"/>
                <a:ea typeface="Arial"/>
                <a:cs typeface="Arial"/>
              </a:defRPr>
            </a:pPr>
            <a:r>
              <a:rPr sz="2175" b="0">
                <a:solidFill>
                  <a:srgbClr val="172033"/>
                </a:solidFill>
                <a:latin typeface="Arial"/>
                <a:ea typeface="Arial"/>
                <a:cs typeface="Arial"/>
              </a:rPr>
              <a:t>AutoCAD / IGEMS validation</a:t>
            </a:r>
          </a:p>
        </p:txBody>
      </p:sp>
      <p:sp>
        <p:nvSpPr>
          <p:cNvPr id="7" name="">
            <a:extLst xmlns:a="http://schemas.openxmlformats.org/drawingml/2006/main">
              <a:ext uri="{FF2B5EF4-FFF2-40B4-BE49-F238E27FC236}">
                <a16:creationId xmlns:a16="http://schemas.microsoft.com/office/drawing/2014/main" id="{498A123D-50A2-492B-B60F-62B40F5C8562}"/>
              </a:ext>
            </a:extLst>
          </p:cNvPr>
          <p:cNvSpPr>
            <a:spLocks xmlns:a="http://schemas.openxmlformats.org/drawingml/2006/main" noGrp="1"/>
          </p:cNvSpPr>
          <p:nvPr/>
        </p:nvSpPr>
        <p:spPr>
          <a:xfrm xmlns:a="http://schemas.openxmlformats.org/drawingml/2006/main">
            <a:off x="609600" y="54768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2033"/>
                </a:solidFill>
                <a:latin typeface="Arial"/>
                <a:ea typeface="Arial"/>
                <a:cs typeface="Arial"/>
              </a:defRPr>
            </a:pPr>
            <a:r>
              <a:rPr sz="2100" b="1">
                <a:solidFill>
                  <a:srgbClr val="172033"/>
                </a:solidFill>
                <a:latin typeface="Arial"/>
                <a:ea typeface="Arial"/>
                <a:cs typeface="Arial"/>
              </a:rPr>
              <a:t>Acceptance target: a DXF that works in Adcut's cutting workflow.</a:t>
            </a:r>
          </a:p>
        </p:txBody>
      </p:sp>
    </p:spTree>
    <p:extLst>
      <p:ext uri="{BB962C8B-B14F-4D97-AF65-F5344CB8AC3E}">
        <p14:creationId xmlns:p14="http://schemas.microsoft.com/office/powerpoint/2010/main" val="17828324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2026-10-05T01:30:27.5390000Z</dcterms:created>
  <dcterms:modified xsi:type="dcterms:W3CDTF">2026-10-05T01:30:27.5390000Z</dcterms:modified>
</coreProperties>
</file>